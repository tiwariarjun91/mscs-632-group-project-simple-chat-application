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e6362ede7f4b48" /><Relationship Type="http://schemas.openxmlformats.org/officeDocument/2006/relationships/extended-properties" Target="/docProps/app.xml" Id="Rbffdc15d1be24133" /><Relationship Type="http://schemas.openxmlformats.org/officeDocument/2006/relationships/officeDocument" Target="/ppt/presentation.xml" Id="R1f529172e41e4242" /></Relationships>
</file>

<file path=ppt/presentation.xml><?xml version="1.0" encoding="utf-8"?>
<p:presentation xmlns:p="http://schemas.openxmlformats.org/presentationml/2006/main">
  <p:sldMasterIdLst>
    <p:sldMasterId xmlns:r="http://schemas.openxmlformats.org/officeDocument/2006/relationships" id="2147483648" r:id="Rcf668a371dfa4c48"/>
  </p:sldMasterIdLst>
  <p:notesMasterIdLst>
    <p:notesMasterId xmlns:r="http://schemas.openxmlformats.org/officeDocument/2006/relationships" r:id="R6fd2d6b181434383"/>
  </p:notesMasterIdLst>
  <p:sldIdLst>
    <p:sldId xmlns:r="http://schemas.openxmlformats.org/officeDocument/2006/relationships" id="256" r:id="R9392e28e4fb04cd5"/>
    <p:sldId xmlns:r="http://schemas.openxmlformats.org/officeDocument/2006/relationships" id="257" r:id="R515585213c1243ee"/>
    <p:sldId xmlns:r="http://schemas.openxmlformats.org/officeDocument/2006/relationships" id="258" r:id="R97b3c358094b47fa"/>
    <p:sldId xmlns:r="http://schemas.openxmlformats.org/officeDocument/2006/relationships" id="259" r:id="R7e0bf6602c9b4bcc"/>
    <p:sldId xmlns:r="http://schemas.openxmlformats.org/officeDocument/2006/relationships" id="260" r:id="R5b776db1c81e48d6"/>
    <p:sldId xmlns:r="http://schemas.openxmlformats.org/officeDocument/2006/relationships" id="261" r:id="Rce9458e1925349f4"/>
    <p:sldId xmlns:r="http://schemas.openxmlformats.org/officeDocument/2006/relationships" id="262" r:id="R101e2b6350ff4561"/>
    <p:sldId xmlns:r="http://schemas.openxmlformats.org/officeDocument/2006/relationships" id="263" r:id="Rdccbcf05c25b4a6a"/>
    <p:sldId xmlns:r="http://schemas.openxmlformats.org/officeDocument/2006/relationships" id="264" r:id="R9dd458f9791b4770"/>
    <p:sldId xmlns:r="http://schemas.openxmlformats.org/officeDocument/2006/relationships" id="265" r:id="R7c977e5df9044675"/>
    <p:sldId xmlns:r="http://schemas.openxmlformats.org/officeDocument/2006/relationships" id="266" r:id="R386dc03d250f4f97"/>
    <p:sldId xmlns:r="http://schemas.openxmlformats.org/officeDocument/2006/relationships" id="267" r:id="Rb377faae47784896"/>
    <p:sldId xmlns:r="http://schemas.openxmlformats.org/officeDocument/2006/relationships" id="268" r:id="R77f30b3e1ed1436d"/>
    <p:sldId xmlns:r="http://schemas.openxmlformats.org/officeDocument/2006/relationships" id="269" r:id="R32b0b6c02bc344ff"/>
    <p:sldId xmlns:r="http://schemas.openxmlformats.org/officeDocument/2006/relationships" id="270" r:id="R41cf4688e3744a0d"/>
    <p:sldId xmlns:r="http://schemas.openxmlformats.org/officeDocument/2006/relationships" id="271" r:id="R6b6223a71b354a05"/>
    <p:sldId xmlns:r="http://schemas.openxmlformats.org/officeDocument/2006/relationships" id="272" r:id="Rcaa262f7e84b4143"/>
    <p:sldId xmlns:r="http://schemas.openxmlformats.org/officeDocument/2006/relationships" id="273" r:id="Ra5cacdaa9d5e4e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6b4986c65240b3" /><Relationship Type="http://schemas.openxmlformats.org/officeDocument/2006/relationships/slideMaster" Target="/ppt/slideMasters/slideMaster1.xml" Id="Rcf668a371dfa4c48" /><Relationship Type="http://schemas.openxmlformats.org/officeDocument/2006/relationships/notesMaster" Target="/ppt/notesMasters/notesMaster1.xml" Id="R6fd2d6b181434383" /><Relationship Type="http://schemas.openxmlformats.org/officeDocument/2006/relationships/presProps" Target="/ppt/presProps.xml" Id="Rc563bb80115042bd" /><Relationship Type="http://schemas.openxmlformats.org/officeDocument/2006/relationships/tableStyles" Target="/ppt/tableStyles.xml" Id="R3d200a4d6cf84526" /><Relationship Type="http://schemas.openxmlformats.org/officeDocument/2006/relationships/slide" Target="/ppt/slides/slide1.xml" Id="R9392e28e4fb04cd5" /><Relationship Type="http://schemas.openxmlformats.org/officeDocument/2006/relationships/slide" Target="/ppt/slides/slide2.xml" Id="R515585213c1243ee" /><Relationship Type="http://schemas.openxmlformats.org/officeDocument/2006/relationships/slide" Target="/ppt/slides/slide3.xml" Id="R97b3c358094b47fa" /><Relationship Type="http://schemas.openxmlformats.org/officeDocument/2006/relationships/slide" Target="/ppt/slides/slide4.xml" Id="R7e0bf6602c9b4bcc" /><Relationship Type="http://schemas.openxmlformats.org/officeDocument/2006/relationships/slide" Target="/ppt/slides/slide5.xml" Id="R5b776db1c81e48d6" /><Relationship Type="http://schemas.openxmlformats.org/officeDocument/2006/relationships/slide" Target="/ppt/slides/slide6.xml" Id="Rce9458e1925349f4" /><Relationship Type="http://schemas.openxmlformats.org/officeDocument/2006/relationships/slide" Target="/ppt/slides/slide7.xml" Id="R101e2b6350ff4561" /><Relationship Type="http://schemas.openxmlformats.org/officeDocument/2006/relationships/slide" Target="/ppt/slides/slide8.xml" Id="Rdccbcf05c25b4a6a" /><Relationship Type="http://schemas.openxmlformats.org/officeDocument/2006/relationships/slide" Target="/ppt/slides/slide9.xml" Id="R9dd458f9791b4770" /><Relationship Type="http://schemas.openxmlformats.org/officeDocument/2006/relationships/slide" Target="/ppt/slides/slide10.xml" Id="R7c977e5df9044675" /><Relationship Type="http://schemas.openxmlformats.org/officeDocument/2006/relationships/slide" Target="/ppt/slides/slide11.xml" Id="R386dc03d250f4f97" /><Relationship Type="http://schemas.openxmlformats.org/officeDocument/2006/relationships/slide" Target="/ppt/slides/slide12.xml" Id="Rb377faae47784896" /><Relationship Type="http://schemas.openxmlformats.org/officeDocument/2006/relationships/slide" Target="/ppt/slides/slide13.xml" Id="R77f30b3e1ed1436d" /><Relationship Type="http://schemas.openxmlformats.org/officeDocument/2006/relationships/slide" Target="/ppt/slides/slide14.xml" Id="R32b0b6c02bc344ff" /><Relationship Type="http://schemas.openxmlformats.org/officeDocument/2006/relationships/slide" Target="/ppt/slides/slide15.xml" Id="R41cf4688e3744a0d" /><Relationship Type="http://schemas.openxmlformats.org/officeDocument/2006/relationships/slide" Target="/ppt/slides/slide16.xml" Id="R6b6223a71b354a05" /><Relationship Type="http://schemas.openxmlformats.org/officeDocument/2006/relationships/slide" Target="/ppt/slides/slide17.xml" Id="Rcaa262f7e84b4143" /><Relationship Type="http://schemas.openxmlformats.org/officeDocument/2006/relationships/slide" Target="/ppt/slides/slide18.xml" Id="Ra5cacdaa9d5e4e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e49361e65744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267192b0c84708" /><Relationship Type="http://schemas.openxmlformats.org/officeDocument/2006/relationships/notesMaster" Target="/ppt/notesMasters/notesMaster1.xml" Id="R4fd04d2a1a2848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dc3452539941e7" /><Relationship Type="http://schemas.openxmlformats.org/officeDocument/2006/relationships/notesMaster" Target="/ppt/notesMasters/notesMaster1.xml" Id="R31fd18a31c3d41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fa701c9b0b4d13" /><Relationship Type="http://schemas.openxmlformats.org/officeDocument/2006/relationships/notesMaster" Target="/ppt/notesMasters/notesMaster1.xml" Id="R4ba2ff13322b4d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05e8ad4644455a" /><Relationship Type="http://schemas.openxmlformats.org/officeDocument/2006/relationships/notesMaster" Target="/ppt/notesMasters/notesMaster1.xml" Id="R868a6db8d2a546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d890fd35cd4812" /><Relationship Type="http://schemas.openxmlformats.org/officeDocument/2006/relationships/notesMaster" Target="/ppt/notesMasters/notesMaster1.xml" Id="R501e745e336041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b02fc9d7284b48" /><Relationship Type="http://schemas.openxmlformats.org/officeDocument/2006/relationships/notesMaster" Target="/ppt/notesMasters/notesMaster1.xml" Id="R0c15c9b0f1fa4a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b4b02ba8d14349" /><Relationship Type="http://schemas.openxmlformats.org/officeDocument/2006/relationships/notesMaster" Target="/ppt/notesMasters/notesMaster1.xml" Id="Rd7231bc47e2a48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d1a5ec02054518" /><Relationship Type="http://schemas.openxmlformats.org/officeDocument/2006/relationships/notesMaster" Target="/ppt/notesMasters/notesMaster1.xml" Id="R538cb629a38c4f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645886b1f040bd" /><Relationship Type="http://schemas.openxmlformats.org/officeDocument/2006/relationships/notesMaster" Target="/ppt/notesMasters/notesMaster1.xml" Id="R3de7a3a6226f44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5695d5a9cd480f" /><Relationship Type="http://schemas.openxmlformats.org/officeDocument/2006/relationships/notesMaster" Target="/ppt/notesMasters/notesMaster1.xml" Id="R8d207d82217e44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d615cd1f7e4c01" /><Relationship Type="http://schemas.openxmlformats.org/officeDocument/2006/relationships/notesMaster" Target="/ppt/notesMasters/notesMaster1.xml" Id="R83e61d0b494449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ec2d0230cc4020" /><Relationship Type="http://schemas.openxmlformats.org/officeDocument/2006/relationships/notesMaster" Target="/ppt/notesMasters/notesMaster1.xml" Id="R827926dfd7eb4c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a16fbdf8c04596" /><Relationship Type="http://schemas.openxmlformats.org/officeDocument/2006/relationships/notesMaster" Target="/ppt/notesMasters/notesMaster1.xml" Id="Reb38b6dc451d41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c2acec2ef9a4b08" /><Relationship Type="http://schemas.openxmlformats.org/officeDocument/2006/relationships/notesMaster" Target="/ppt/notesMasters/notesMaster1.xml" Id="R0a023494c5584f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9348ffb05bc4ee0" /><Relationship Type="http://schemas.openxmlformats.org/officeDocument/2006/relationships/notesMaster" Target="/ppt/notesMasters/notesMaster1.xml" Id="R84b9a3a63d8044e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c7bb3e165674cd4" /><Relationship Type="http://schemas.openxmlformats.org/officeDocument/2006/relationships/notesMaster" Target="/ppt/notesMasters/notesMaster1.xml" Id="R3e53bfc610224f2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688b6c574b04fea" /><Relationship Type="http://schemas.openxmlformats.org/officeDocument/2006/relationships/notesMaster" Target="/ppt/notesMasters/notesMaster1.xml" Id="R556c8621c1ab4a3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9bd516eb0744438" /><Relationship Type="http://schemas.openxmlformats.org/officeDocument/2006/relationships/notesMaster" Target="/ppt/notesMasters/notesMaster1.xml" Id="R1ef84a1298794a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Introduce the team and explain that the project implements the same local chat application in Rust and Go so the comparison comes from equivalent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 Explain that the design controls for functionality by keeping the browser interface and API contract identical. This lets the team compare language choices instead of comparing different products.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 Walk from the browser to either backend. Mention that both implementations serve the same static frontend and expose users, messages, conversation, and simulation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 Point out the sender and recipient controls, the conversation area, the global history filters, and the Run simulation control. The live demonstration should first run with Rust and then repeat after starting 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 Explain why string IDs matter: they match the shared model and remove Number conversions from the frontend. Review the five routes and one representative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Ruthwik Pala. Timing: 45 seconds. Point out Alice and Bob as the selected participants, the stored messages with IDs and timestamps, the message composer, and the Send message button. During the live demonstration, enter a new message and show it appearing immediately in the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Ruthwik Pala. Timing: 45 seconds. Choose Bob and search for meeting. The history query checks messages sent or received by Bob and performs case-insensitive keyword matching.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Ruthwik Pala. Timing: 1 minute. Click Run simulation and point to the success result and the six new messages. Task scheduling may change processing order, but synchronization keeps every ID unique and every accepted message in shared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Describe the HashMap, Vec, and next ID fields. Emphasize that send requires a mutable borrow and returns Result. The channel-driven worker owns the service, so HTTP handlers do not mutate history directly. Source: rust-backend/src/chat.rs.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Ruthwik Pala. Timing: 1 minute. Compare Message and ChatError. Explain that Rust uses owned strings for stored data, Result for recoverable failure, and enums so handlers must address each meaningful error. Sources: rust-backend/src/models.rs and rust-backend/src/chat.rs.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Ruthwik Pala. Timing: 1.5 minutes. Explain JoinSet, async move, the cloned ChatHandle, and why only the worker mutates ChatService. Each task sends two messages sequentially while tasks interleave. Source: rust-backend/src/simulation.rs.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Ruthwik Pala. Timing: 1 minute. State that all 22 Rust tests passed with formatting and Clippy checks. Mention the overlapping simulation test, which verifies IDs 1 through 20 across concurrent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Arjun Nandkishor Tiwari. Timing: 1.5 minutes. Explain the map, slice, next ID, and RWMutex. SendMessage validates first, then takes the write lock before assigning the ID and appending the message. Source: go-backend/internal/chat/chat.go.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Arjun Nandkishor Tiwari. Timing: 1 minute. Explain the struct tags and sentinel errors. The API layer uses errors.Is to translate service errors into matching HTTP and JSON responses. Sources: go-backend/internal/chat/models.go and chat.go.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Arjun Nandkishor Tiwari. Timing: 1.5 minutes. Explain the goroutine closure, buffered result channel, and six receives. SendMessage performs synchronized mutation. Source: go-backend/internal/chat/simulation.go.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Arjun Nandkishor Tiwari. Timing: 1 minute. Describe the service and API tests, then emphasize the race detector because shared state uses a mutex. Source: go-backend internal chat and API test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Presenters: Ruthwik Pala and Arjun Nandkishor Tiwari. Timing: 1.5 minutes. Focus on the central contrast: Go goroutines share ChatService and use RWMutex, while Rust Tokio tasks send commands to a worker that owns ChatService. Briefly compare error and memory models, then emphasize that both expose the same API to one 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Presenters: Ruthwik Pala and Arjun Nandkishor Tiwari. Timing: 30 seconds plus questions. Ruthwik summarizes Rust, Arjun summarizes Go, and either presenter invites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51fe9dc4214c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96a48b031945ca" /><Relationship Type="http://schemas.openxmlformats.org/officeDocument/2006/relationships/slideLayout" Target="/ppt/slideLayouts/slideLayout1.xml" Id="R8bb44561d16446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b44561d16446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127a32efcf4de2" /><Relationship Type="http://schemas.openxmlformats.org/officeDocument/2006/relationships/notesSlide" Target="/ppt/notesSlides/notesSlide1.xml" Id="Raf3df4ec53f24e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8b69f16b5a4510" /><Relationship Type="http://schemas.openxmlformats.org/officeDocument/2006/relationships/notesSlide" Target="/ppt/notesSlides/notesSlide2.xml" Id="R7e05ce37b7cf47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b3d40079dc4a23" /><Relationship Type="http://schemas.openxmlformats.org/officeDocument/2006/relationships/notesSlide" Target="/ppt/notesSlides/notesSlide3.xml" Id="R20cd1e6fe7714e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df4505923b4b82" /><Relationship Type="http://schemas.openxmlformats.org/officeDocument/2006/relationships/image" Target="/ppt/media/image.jpeg" Id="R2ad81c6f779d4564" /><Relationship Type="http://schemas.openxmlformats.org/officeDocument/2006/relationships/notesSlide" Target="/ppt/notesSlides/notesSlide4.xml" Id="Rd13e0078ee7249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6afeb9b94814622" /><Relationship Type="http://schemas.openxmlformats.org/officeDocument/2006/relationships/notesSlide" Target="/ppt/notesSlides/notesSlide5.xml" Id="R553feb6adb504d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e7db514c1f4e63" /><Relationship Type="http://schemas.openxmlformats.org/officeDocument/2006/relationships/image" Target="/ppt/media/image.png" Id="R767b2f19f345431c" /><Relationship Type="http://schemas.openxmlformats.org/officeDocument/2006/relationships/notesSlide" Target="/ppt/notesSlides/notesSlide6.xml" Id="R7985f94f711d49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24b42e87fc1495e" /><Relationship Type="http://schemas.openxmlformats.org/officeDocument/2006/relationships/image" Target="/ppt/media/image2.png" Id="R90c4b468877e45a5" /><Relationship Type="http://schemas.openxmlformats.org/officeDocument/2006/relationships/notesSlide" Target="/ppt/notesSlides/notesSlide7.xml" Id="R723f054d670c45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51938935d5d4157" /><Relationship Type="http://schemas.openxmlformats.org/officeDocument/2006/relationships/image" Target="/ppt/media/image2.jpeg" Id="R6cda8e3225db4f11" /><Relationship Type="http://schemas.openxmlformats.org/officeDocument/2006/relationships/notesSlide" Target="/ppt/notesSlides/notesSlide8.xml" Id="Rfcefc388403e43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25957cea83a42b0" /><Relationship Type="http://schemas.openxmlformats.org/officeDocument/2006/relationships/notesSlide" Target="/ppt/notesSlides/notesSlide9.xml" Id="R5b49329f56634f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bd7f33b8ad14d90" /><Relationship Type="http://schemas.openxmlformats.org/officeDocument/2006/relationships/notesSlide" Target="/ppt/notesSlides/notesSlide10.xml" Id="R80ac879e538147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ae6b574a04d474e" /><Relationship Type="http://schemas.openxmlformats.org/officeDocument/2006/relationships/notesSlide" Target="/ppt/notesSlides/notesSlide11.xml" Id="R4468256125674d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d9d0ab78d4e4aa7" /><Relationship Type="http://schemas.openxmlformats.org/officeDocument/2006/relationships/notesSlide" Target="/ppt/notesSlides/notesSlide12.xml" Id="Rea04cb03cf5646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56dec8d518c4342" /><Relationship Type="http://schemas.openxmlformats.org/officeDocument/2006/relationships/notesSlide" Target="/ppt/notesSlides/notesSlide13.xml" Id="R67f4e2d0428c45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dc1ae2822ad4c71" /><Relationship Type="http://schemas.openxmlformats.org/officeDocument/2006/relationships/notesSlide" Target="/ppt/notesSlides/notesSlide14.xml" Id="R6124678b743c425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75ed9a460e34da9" /><Relationship Type="http://schemas.openxmlformats.org/officeDocument/2006/relationships/notesSlide" Target="/ppt/notesSlides/notesSlide15.xml" Id="Rd078201a7c834b8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a008531659a47e9" /><Relationship Type="http://schemas.openxmlformats.org/officeDocument/2006/relationships/notesSlide" Target="/ppt/notesSlides/notesSlide16.xml" Id="R5ae650aeba084ba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4c8c19c7e8744ac" /><Relationship Type="http://schemas.openxmlformats.org/officeDocument/2006/relationships/notesSlide" Target="/ppt/notesSlides/notesSlide17.xml" Id="R9ba847bfeea945f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2b6fa3ab4804008" /><Relationship Type="http://schemas.openxmlformats.org/officeDocument/2006/relationships/notesSlide" Target="/ppt/notesSlides/notesSlide18.xml" Id="R13a5c34cabf5490a" /></Relationships>
</file>

<file path=ppt/slides/slide1.xml><?xml version="1.0" encoding="utf-8"?>
<p:sld xmlns:p="http://schemas.openxmlformats.org/presentationml/2006/main">
  <p:cSld>
    <p:bg>
      <p:bgPr>
        <a:solidFill xmlns:a="http://schemas.openxmlformats.org/drawingml/2006/main">
          <a:srgbClr val="F4F8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F7D43D-D8B5-43CD-B150-2A0758B997AA}"/>
              </a:ext>
            </a:extLst>
          </p:cNvPr>
          <p:cNvSpPr>
            <a:spLocks xmlns:a="http://schemas.openxmlformats.org/drawingml/2006/main" noGrp="1"/>
          </p:cNvSpPr>
          <p:nvPr/>
        </p:nvSpPr>
        <p:spPr>
          <a:xfrm xmlns:a="http://schemas.openxmlformats.org/drawingml/2006/main">
            <a:off x="762000" y="7048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76B57"/>
                </a:solidFill>
                <a:latin typeface="Helvetica Neue"/>
                <a:ea typeface="Helvetica Neue"/>
                <a:cs typeface="Helvetica Neue"/>
              </a:defRPr>
            </a:pPr>
            <a:r>
              <a:rPr sz="975" b="1">
                <a:solidFill>
                  <a:srgbClr val="176B57"/>
                </a:solidFill>
                <a:latin typeface="Helvetica Neue"/>
                <a:ea typeface="Helvetica Neue"/>
                <a:cs typeface="Helvetica Neue"/>
              </a:rPr>
              <a:t>MSCS 632 ADVANCED PROGRAMMING LANGUAGES</a:t>
            </a:r>
          </a:p>
        </p:txBody>
      </p:sp>
      <p:sp>
        <p:nvSpPr>
          <p:cNvPr id="2" name="">
            <a:extLst xmlns:a="http://schemas.openxmlformats.org/drawingml/2006/main">
              <a:ext uri="{FF2B5EF4-FFF2-40B4-BE49-F238E27FC236}">
                <a16:creationId xmlns:a16="http://schemas.microsoft.com/office/drawing/2014/main" id="{8565AE7B-1C65-492D-AA08-D68C052F7986}"/>
              </a:ext>
            </a:extLst>
          </p:cNvPr>
          <p:cNvSpPr>
            <a:spLocks xmlns:a="http://schemas.openxmlformats.org/drawingml/2006/main" noGrp="1"/>
          </p:cNvSpPr>
          <p:nvPr/>
        </p:nvSpPr>
        <p:spPr>
          <a:xfrm xmlns:a="http://schemas.openxmlformats.org/drawingml/2006/main">
            <a:off x="762000" y="1428750"/>
            <a:ext cx="876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750" b="1">
                <a:solidFill>
                  <a:srgbClr val="10231F"/>
                </a:solidFill>
                <a:latin typeface="Helvetica Neue"/>
                <a:ea typeface="Helvetica Neue"/>
                <a:cs typeface="Helvetica Neue"/>
              </a:defRPr>
            </a:pPr>
            <a:r>
              <a:rPr sz="3750" b="1">
                <a:solidFill>
                  <a:srgbClr val="10231F"/>
                </a:solidFill>
                <a:latin typeface="Helvetica Neue"/>
                <a:ea typeface="Helvetica Neue"/>
                <a:cs typeface="Helvetica Neue"/>
              </a:rPr>
              <a:t>Simple Chat Application</a:t>
            </a:r>
          </a:p>
        </p:txBody>
      </p:sp>
      <p:sp>
        <p:nvSpPr>
          <p:cNvPr id="3" name="">
            <a:extLst xmlns:a="http://schemas.openxmlformats.org/drawingml/2006/main">
              <a:ext uri="{FF2B5EF4-FFF2-40B4-BE49-F238E27FC236}">
                <a16:creationId xmlns:a16="http://schemas.microsoft.com/office/drawing/2014/main" id="{770D7616-C512-4A5E-9B2A-2CEEFA466916}"/>
              </a:ext>
            </a:extLst>
          </p:cNvPr>
          <p:cNvSpPr>
            <a:spLocks xmlns:a="http://schemas.openxmlformats.org/drawingml/2006/main" noGrp="1"/>
          </p:cNvSpPr>
          <p:nvPr/>
        </p:nvSpPr>
        <p:spPr>
          <a:xfrm xmlns:a="http://schemas.openxmlformats.org/drawingml/2006/main">
            <a:off x="762000" y="2209800"/>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76B57"/>
                </a:solidFill>
                <a:latin typeface="Helvetica Neue"/>
                <a:ea typeface="Helvetica Neue"/>
                <a:cs typeface="Helvetica Neue"/>
              </a:defRPr>
            </a:pPr>
            <a:r>
              <a:rPr sz="2100" b="0">
                <a:solidFill>
                  <a:srgbClr val="176B57"/>
                </a:solidFill>
                <a:latin typeface="Helvetica Neue"/>
                <a:ea typeface="Helvetica Neue"/>
                <a:cs typeface="Helvetica Neue"/>
              </a:rPr>
              <a:t>Rust and Go implementation comparison</a:t>
            </a:r>
          </a:p>
        </p:txBody>
      </p:sp>
      <p:sp>
        <p:nvSpPr>
          <p:cNvPr id="4" name="">
            <a:extLst xmlns:a="http://schemas.openxmlformats.org/drawingml/2006/main">
              <a:ext uri="{FF2B5EF4-FFF2-40B4-BE49-F238E27FC236}">
                <a16:creationId xmlns:a16="http://schemas.microsoft.com/office/drawing/2014/main" id="{7271E7A9-3978-4D50-8DD3-C1A3A862C2FC}"/>
              </a:ext>
            </a:extLst>
          </p:cNvPr>
          <p:cNvSpPr>
            <a:spLocks xmlns:a="http://schemas.openxmlformats.org/drawingml/2006/main" noGrp="1"/>
          </p:cNvSpPr>
          <p:nvPr/>
        </p:nvSpPr>
        <p:spPr>
          <a:xfrm xmlns:a="http://schemas.openxmlformats.org/drawingml/2006/main">
            <a:off x="762000" y="390525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72A32"/>
                </a:solidFill>
                <a:latin typeface="Helvetica Neue"/>
                <a:ea typeface="Helvetica Neue"/>
                <a:cs typeface="Helvetica Neue"/>
              </a:defRPr>
            </a:pPr>
            <a:r>
              <a:rPr sz="1650" b="1">
                <a:solidFill>
                  <a:srgbClr val="172A32"/>
                </a:solidFill>
                <a:latin typeface="Helvetica Neue"/>
                <a:ea typeface="Helvetica Neue"/>
                <a:cs typeface="Helvetica Neue"/>
              </a:rPr>
              <a:t>Ruthwik Pala  |  Arjun Nandkishor Tiwari</a:t>
            </a:r>
          </a:p>
        </p:txBody>
      </p:sp>
      <p:sp>
        <p:nvSpPr>
          <p:cNvPr id="5" name="">
            <a:extLst xmlns:a="http://schemas.openxmlformats.org/drawingml/2006/main">
              <a:ext uri="{FF2B5EF4-FFF2-40B4-BE49-F238E27FC236}">
                <a16:creationId xmlns:a16="http://schemas.microsoft.com/office/drawing/2014/main" id="{4A4E1AFE-D1FF-458B-846D-836576F69DCB}"/>
              </a:ext>
            </a:extLst>
          </p:cNvPr>
          <p:cNvSpPr>
            <a:spLocks xmlns:a="http://schemas.openxmlformats.org/drawingml/2006/main" noGrp="1"/>
          </p:cNvSpPr>
          <p:nvPr/>
        </p:nvSpPr>
        <p:spPr>
          <a:xfrm xmlns:a="http://schemas.openxmlformats.org/drawingml/2006/main">
            <a:off x="762000" y="4343400"/>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2666E"/>
                </a:solidFill>
                <a:latin typeface="Helvetica Neue"/>
                <a:ea typeface="Helvetica Neue"/>
                <a:cs typeface="Helvetica Neue"/>
              </a:defRPr>
            </a:pPr>
            <a:r>
              <a:rPr sz="1425" b="0">
                <a:solidFill>
                  <a:srgbClr val="52666E"/>
                </a:solidFill>
                <a:latin typeface="Helvetica Neue"/>
                <a:ea typeface="Helvetica Neue"/>
                <a:cs typeface="Helvetica Neue"/>
              </a:rPr>
              <a:t>University of the Cumberlands</a:t>
            </a:r>
          </a:p>
          <a:p xmlns:a="http://schemas.openxmlformats.org/drawingml/2006/main">
            <a:pPr algn="l">
              <a:defRPr sz="1425" b="0">
                <a:solidFill>
                  <a:srgbClr val="52666E"/>
                </a:solidFill>
                <a:latin typeface="Helvetica Neue"/>
                <a:ea typeface="Helvetica Neue"/>
                <a:cs typeface="Helvetica Neue"/>
              </a:defRPr>
            </a:pPr>
            <a:r>
              <a:rPr sz="1425" b="0">
                <a:solidFill>
                  <a:srgbClr val="52666E"/>
                </a:solidFill>
                <a:latin typeface="Helvetica Neue"/>
                <a:ea typeface="Helvetica Neue"/>
                <a:cs typeface="Helvetica Neue"/>
              </a:rPr>
              <a:t>Dr. Jay Thom</a:t>
            </a:r>
          </a:p>
          <a:p xmlns:a="http://schemas.openxmlformats.org/drawingml/2006/main">
            <a:pPr algn="l">
              <a:defRPr sz="1425" b="0">
                <a:solidFill>
                  <a:srgbClr val="52666E"/>
                </a:solidFill>
                <a:latin typeface="Helvetica Neue"/>
                <a:ea typeface="Helvetica Neue"/>
                <a:cs typeface="Helvetica Neue"/>
              </a:defRPr>
            </a:pPr>
            <a:r>
              <a:rPr sz="1425" b="0">
                <a:solidFill>
                  <a:srgbClr val="52666E"/>
                </a:solidFill>
                <a:latin typeface="Helvetica Neue"/>
                <a:ea typeface="Helvetica Neue"/>
                <a:cs typeface="Helvetica Neue"/>
              </a:rPr>
              <a:t>October 2026</a:t>
            </a:r>
          </a:p>
        </p:txBody>
      </p:sp>
    </p:spTree>
    <p:extLst>
      <p:ext uri="{BB962C8B-B14F-4D97-AF65-F5344CB8AC3E}">
        <p14:creationId xmlns:p14="http://schemas.microsoft.com/office/powerpoint/2010/main" val="3627368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2347AD6-D0D5-4829-AAAA-B8F9EDCE83DE}"/>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Project goal and required functionality</a:t>
            </a:r>
          </a:p>
        </p:txBody>
      </p:sp>
      <p:sp>
        <p:nvSpPr>
          <p:cNvPr id="2" name="">
            <a:extLst xmlns:a="http://schemas.openxmlformats.org/drawingml/2006/main">
              <a:ext uri="{FF2B5EF4-FFF2-40B4-BE49-F238E27FC236}">
                <a16:creationId xmlns:a16="http://schemas.microsoft.com/office/drawing/2014/main" id="{0D6A832A-CA15-4E9D-BFE5-1B2F4E743588}"/>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D759450-E9B9-4EC4-93DD-725006794C37}"/>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The same user experience is implemented through two language-specific backends</a:t>
            </a:r>
          </a:p>
        </p:txBody>
      </p:sp>
      <p:sp>
        <p:nvSpPr>
          <p:cNvPr id="4" name="">
            <a:extLst xmlns:a="http://schemas.openxmlformats.org/drawingml/2006/main">
              <a:ext uri="{FF2B5EF4-FFF2-40B4-BE49-F238E27FC236}">
                <a16:creationId xmlns:a16="http://schemas.microsoft.com/office/drawing/2014/main" id="{0326BB97-6DF9-4E3E-9AF2-92F577A49897}"/>
              </a:ext>
            </a:extLst>
          </p:cNvPr>
          <p:cNvSpPr>
            <a:spLocks xmlns:a="http://schemas.openxmlformats.org/drawingml/2006/main" noGrp="1"/>
          </p:cNvSpPr>
          <p:nvPr/>
        </p:nvSpPr>
        <p:spPr>
          <a:xfrm xmlns:a="http://schemas.openxmlformats.org/drawingml/2006/main">
            <a:off x="857250" y="17145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76B57"/>
                </a:solidFill>
                <a:latin typeface="Helvetica Neue"/>
                <a:ea typeface="Helvetica Neue"/>
                <a:cs typeface="Helvetica Neue"/>
              </a:defRPr>
            </a:pPr>
            <a:r>
              <a:rPr sz="975" b="1">
                <a:solidFill>
                  <a:srgbClr val="176B57"/>
                </a:solidFill>
                <a:latin typeface="Helvetica Neue"/>
                <a:ea typeface="Helvetica Neue"/>
                <a:cs typeface="Helvetica Neue"/>
              </a:rPr>
              <a:t>APPLICATION REQUIREMENTS</a:t>
            </a:r>
          </a:p>
        </p:txBody>
      </p:sp>
      <p:sp>
        <p:nvSpPr>
          <p:cNvPr id="5" name="">
            <a:extLst xmlns:a="http://schemas.openxmlformats.org/drawingml/2006/main">
              <a:ext uri="{FF2B5EF4-FFF2-40B4-BE49-F238E27FC236}">
                <a16:creationId xmlns:a16="http://schemas.microsoft.com/office/drawing/2014/main" id="{106B6183-9BA2-41A4-851E-63B395A97E9C}"/>
              </a:ext>
            </a:extLst>
          </p:cNvPr>
          <p:cNvSpPr>
            <a:spLocks xmlns:a="http://schemas.openxmlformats.org/drawingml/2006/main" noGrp="1"/>
          </p:cNvSpPr>
          <p:nvPr/>
        </p:nvSpPr>
        <p:spPr>
          <a:xfrm xmlns:a="http://schemas.openxmlformats.org/drawingml/2006/main">
            <a:off x="857250" y="206692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620"/>
          </a:bodyPr>
          <a:lstStyle xmlns:a="http://schemas.openxmlformats.org/drawingml/2006/main"/>
          <a:p xmlns:a="http://schemas.openxmlformats.org/drawingml/2006/main">
            <a:pPr algn="l">
              <a:defRPr sz="1650" b="1">
                <a:solidFill>
                  <a:srgbClr val="176B57"/>
                </a:solidFill>
                <a:latin typeface="Helvetica Neue"/>
                <a:ea typeface="Helvetica Neue"/>
                <a:cs typeface="Helvetica Neue"/>
              </a:defRPr>
            </a:pPr>
            <a:r>
              <a:rPr sz="1650" b="1">
                <a:solidFill>
                  <a:srgbClr val="176B57"/>
                </a:solidFill>
                <a:latin typeface="Helvetica Neue"/>
                <a:ea typeface="Helvetica Neue"/>
                <a:cs typeface="Helvetica Neue"/>
              </a:rPr>
              <a:t>•</a:t>
            </a:r>
          </a:p>
        </p:txBody>
      </p:sp>
      <p:sp>
        <p:nvSpPr>
          <p:cNvPr id="6" name="">
            <a:extLst xmlns:a="http://schemas.openxmlformats.org/drawingml/2006/main">
              <a:ext uri="{FF2B5EF4-FFF2-40B4-BE49-F238E27FC236}">
                <a16:creationId xmlns:a16="http://schemas.microsoft.com/office/drawing/2014/main" id="{A4701954-404C-4235-82B5-1C128C8B2427}"/>
              </a:ext>
            </a:extLst>
          </p:cNvPr>
          <p:cNvSpPr>
            <a:spLocks xmlns:a="http://schemas.openxmlformats.org/drawingml/2006/main" noGrp="1"/>
          </p:cNvSpPr>
          <p:nvPr/>
        </p:nvSpPr>
        <p:spPr>
          <a:xfrm xmlns:a="http://schemas.openxmlformats.org/drawingml/2006/main">
            <a:off x="1143000" y="20574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Simulate Alice, Bob, and Charlie as stable users</a:t>
            </a:r>
          </a:p>
        </p:txBody>
      </p:sp>
      <p:sp>
        <p:nvSpPr>
          <p:cNvPr id="7" name="">
            <a:extLst xmlns:a="http://schemas.openxmlformats.org/drawingml/2006/main">
              <a:ext uri="{FF2B5EF4-FFF2-40B4-BE49-F238E27FC236}">
                <a16:creationId xmlns:a16="http://schemas.microsoft.com/office/drawing/2014/main" id="{64EA2B5A-C139-49A8-A9FD-A370AA675774}"/>
              </a:ext>
            </a:extLst>
          </p:cNvPr>
          <p:cNvSpPr>
            <a:spLocks xmlns:a="http://schemas.openxmlformats.org/drawingml/2006/main" noGrp="1"/>
          </p:cNvSpPr>
          <p:nvPr/>
        </p:nvSpPr>
        <p:spPr>
          <a:xfrm xmlns:a="http://schemas.openxmlformats.org/drawingml/2006/main">
            <a:off x="857250" y="263842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620"/>
          </a:bodyPr>
          <a:lstStyle xmlns:a="http://schemas.openxmlformats.org/drawingml/2006/main"/>
          <a:p xmlns:a="http://schemas.openxmlformats.org/drawingml/2006/main">
            <a:pPr algn="l">
              <a:defRPr sz="1650" b="1">
                <a:solidFill>
                  <a:srgbClr val="176B57"/>
                </a:solidFill>
                <a:latin typeface="Helvetica Neue"/>
                <a:ea typeface="Helvetica Neue"/>
                <a:cs typeface="Helvetica Neue"/>
              </a:defRPr>
            </a:pPr>
            <a:r>
              <a:rPr sz="1650" b="1">
                <a:solidFill>
                  <a:srgbClr val="176B57"/>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2E778C4B-852E-464B-9A1A-546B91A45291}"/>
              </a:ext>
            </a:extLst>
          </p:cNvPr>
          <p:cNvSpPr>
            <a:spLocks xmlns:a="http://schemas.openxmlformats.org/drawingml/2006/main" noGrp="1"/>
          </p:cNvSpPr>
          <p:nvPr/>
        </p:nvSpPr>
        <p:spPr>
          <a:xfrm xmlns:a="http://schemas.openxmlformats.org/drawingml/2006/main">
            <a:off x="1143000" y="26289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190"/>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Store messages with sender, recipient, ID, content, and timestamp</a:t>
            </a:r>
          </a:p>
        </p:txBody>
      </p:sp>
      <p:sp>
        <p:nvSpPr>
          <p:cNvPr id="9" name="">
            <a:extLst xmlns:a="http://schemas.openxmlformats.org/drawingml/2006/main">
              <a:ext uri="{FF2B5EF4-FFF2-40B4-BE49-F238E27FC236}">
                <a16:creationId xmlns:a16="http://schemas.microsoft.com/office/drawing/2014/main" id="{706474C6-5B33-4279-B694-A56E4BDCB1E5}"/>
              </a:ext>
            </a:extLst>
          </p:cNvPr>
          <p:cNvSpPr>
            <a:spLocks xmlns:a="http://schemas.openxmlformats.org/drawingml/2006/main" noGrp="1"/>
          </p:cNvSpPr>
          <p:nvPr/>
        </p:nvSpPr>
        <p:spPr>
          <a:xfrm xmlns:a="http://schemas.openxmlformats.org/drawingml/2006/main">
            <a:off x="857250" y="334327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620"/>
          </a:bodyPr>
          <a:lstStyle xmlns:a="http://schemas.openxmlformats.org/drawingml/2006/main"/>
          <a:p xmlns:a="http://schemas.openxmlformats.org/drawingml/2006/main">
            <a:pPr algn="l">
              <a:defRPr sz="1650" b="1">
                <a:solidFill>
                  <a:srgbClr val="176B57"/>
                </a:solidFill>
                <a:latin typeface="Helvetica Neue"/>
                <a:ea typeface="Helvetica Neue"/>
                <a:cs typeface="Helvetica Neue"/>
              </a:defRPr>
            </a:pPr>
            <a:r>
              <a:rPr sz="1650" b="1">
                <a:solidFill>
                  <a:srgbClr val="176B57"/>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8E7149C2-EC49-41A0-ABCE-EB542819B031}"/>
              </a:ext>
            </a:extLst>
          </p:cNvPr>
          <p:cNvSpPr>
            <a:spLocks xmlns:a="http://schemas.openxmlformats.org/drawingml/2006/main" noGrp="1"/>
          </p:cNvSpPr>
          <p:nvPr/>
        </p:nvSpPr>
        <p:spPr>
          <a:xfrm xmlns:a="http://schemas.openxmlformats.org/drawingml/2006/main">
            <a:off x="1143000" y="33337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Search history by participant or keyword</a:t>
            </a:r>
          </a:p>
        </p:txBody>
      </p:sp>
      <p:sp>
        <p:nvSpPr>
          <p:cNvPr id="11" name="">
            <a:extLst xmlns:a="http://schemas.openxmlformats.org/drawingml/2006/main">
              <a:ext uri="{FF2B5EF4-FFF2-40B4-BE49-F238E27FC236}">
                <a16:creationId xmlns:a16="http://schemas.microsoft.com/office/drawing/2014/main" id="{464D89D2-855A-4BD7-969F-398BDC059133}"/>
              </a:ext>
            </a:extLst>
          </p:cNvPr>
          <p:cNvSpPr>
            <a:spLocks xmlns:a="http://schemas.openxmlformats.org/drawingml/2006/main" noGrp="1"/>
          </p:cNvSpPr>
          <p:nvPr/>
        </p:nvSpPr>
        <p:spPr>
          <a:xfrm xmlns:a="http://schemas.openxmlformats.org/drawingml/2006/main">
            <a:off x="857250" y="391477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620"/>
          </a:bodyPr>
          <a:lstStyle xmlns:a="http://schemas.openxmlformats.org/drawingml/2006/main"/>
          <a:p xmlns:a="http://schemas.openxmlformats.org/drawingml/2006/main">
            <a:pPr algn="l">
              <a:defRPr sz="1650" b="1">
                <a:solidFill>
                  <a:srgbClr val="176B57"/>
                </a:solidFill>
                <a:latin typeface="Helvetica Neue"/>
                <a:ea typeface="Helvetica Neue"/>
                <a:cs typeface="Helvetica Neue"/>
              </a:defRPr>
            </a:pPr>
            <a:r>
              <a:rPr sz="1650" b="1">
                <a:solidFill>
                  <a:srgbClr val="176B57"/>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81F27958-F373-4CAF-A46D-D623F57A343D}"/>
              </a:ext>
            </a:extLst>
          </p:cNvPr>
          <p:cNvSpPr>
            <a:spLocks xmlns:a="http://schemas.openxmlformats.org/drawingml/2006/main" noGrp="1"/>
          </p:cNvSpPr>
          <p:nvPr/>
        </p:nvSpPr>
        <p:spPr>
          <a:xfrm xmlns:a="http://schemas.openxmlformats.org/drawingml/2006/main">
            <a:off x="1143000" y="39052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Demonstrate concurrent message handling</a:t>
            </a:r>
          </a:p>
        </p:txBody>
      </p:sp>
      <p:sp>
        <p:nvSpPr>
          <p:cNvPr id="13" name="">
            <a:extLst xmlns:a="http://schemas.openxmlformats.org/drawingml/2006/main">
              <a:ext uri="{FF2B5EF4-FFF2-40B4-BE49-F238E27FC236}">
                <a16:creationId xmlns:a16="http://schemas.microsoft.com/office/drawing/2014/main" id="{E9C3A577-7F16-49A3-B516-9D19A286E21C}"/>
              </a:ext>
            </a:extLst>
          </p:cNvPr>
          <p:cNvSpPr>
            <a:spLocks xmlns:a="http://schemas.openxmlformats.org/drawingml/2006/main" noGrp="1"/>
          </p:cNvSpPr>
          <p:nvPr/>
        </p:nvSpPr>
        <p:spPr>
          <a:xfrm xmlns:a="http://schemas.openxmlformats.org/drawingml/2006/main">
            <a:off x="6667500" y="17145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76B57"/>
                </a:solidFill>
                <a:latin typeface="Helvetica Neue"/>
                <a:ea typeface="Helvetica Neue"/>
                <a:cs typeface="Helvetica Neue"/>
              </a:defRPr>
            </a:pPr>
            <a:r>
              <a:rPr sz="975" b="1">
                <a:solidFill>
                  <a:srgbClr val="176B57"/>
                </a:solidFill>
                <a:latin typeface="Helvetica Neue"/>
                <a:ea typeface="Helvetica Neue"/>
                <a:cs typeface="Helvetica Neue"/>
              </a:rPr>
              <a:t>COMPARISON OBJECTIVE</a:t>
            </a:r>
          </a:p>
        </p:txBody>
      </p:sp>
      <p:sp>
        <p:nvSpPr>
          <p:cNvPr id="14" name="">
            <a:extLst xmlns:a="http://schemas.openxmlformats.org/drawingml/2006/main">
              <a:ext uri="{FF2B5EF4-FFF2-40B4-BE49-F238E27FC236}">
                <a16:creationId xmlns:a16="http://schemas.microsoft.com/office/drawing/2014/main" id="{955EC105-ED63-4D86-828A-401DE58E1960}"/>
              </a:ext>
            </a:extLst>
          </p:cNvPr>
          <p:cNvSpPr>
            <a:spLocks xmlns:a="http://schemas.openxmlformats.org/drawingml/2006/main" noGrp="1"/>
          </p:cNvSpPr>
          <p:nvPr/>
        </p:nvSpPr>
        <p:spPr>
          <a:xfrm xmlns:a="http://schemas.openxmlformats.org/drawingml/2006/main">
            <a:off x="6667500" y="2143125"/>
            <a:ext cx="4286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367"/>
          </a:bodyPr>
          <a:lstStyle xmlns:a="http://schemas.openxmlformats.org/drawingml/2006/main"/>
          <a:p xmlns:a="http://schemas.openxmlformats.org/drawingml/2006/main">
            <a:pPr algn="l">
              <a:defRPr sz="1950" b="1">
                <a:solidFill>
                  <a:srgbClr val="10231F"/>
                </a:solidFill>
                <a:latin typeface="Helvetica Neue"/>
                <a:ea typeface="Helvetica Neue"/>
                <a:cs typeface="Helvetica Neue"/>
              </a:defRPr>
            </a:pPr>
            <a:r>
              <a:rPr sz="1950" b="1">
                <a:solidFill>
                  <a:srgbClr val="10231F"/>
                </a:solidFill>
                <a:latin typeface="Helvetica Neue"/>
                <a:ea typeface="Helvetica Neue"/>
                <a:cs typeface="Helvetica Neue"/>
              </a:rPr>
              <a:t>One shared frontend keeps the workflow constant. The backend changes reveal differences in type systems, state ownership, concurrency, errors, and programming style.</a:t>
            </a:r>
          </a:p>
        </p:txBody>
      </p:sp>
      <p:sp>
        <p:nvSpPr>
          <p:cNvPr id="15" name="">
            <a:extLst xmlns:a="http://schemas.openxmlformats.org/drawingml/2006/main">
              <a:ext uri="{FF2B5EF4-FFF2-40B4-BE49-F238E27FC236}">
                <a16:creationId xmlns:a16="http://schemas.microsoft.com/office/drawing/2014/main" id="{EF398840-BE47-4FE2-B321-1E2843AD7DBC}"/>
              </a:ext>
            </a:extLst>
          </p:cNvPr>
          <p:cNvSpPr>
            <a:spLocks xmlns:a="http://schemas.openxmlformats.org/drawingml/2006/main" noGrp="1"/>
          </p:cNvSpPr>
          <p:nvPr/>
        </p:nvSpPr>
        <p:spPr>
          <a:xfrm xmlns:a="http://schemas.openxmlformats.org/drawingml/2006/main">
            <a:off x="6667500" y="44767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6B57"/>
                </a:solidFill>
                <a:latin typeface="Helvetica Neue"/>
                <a:ea typeface="Helvetica Neue"/>
                <a:cs typeface="Helvetica Neue"/>
              </a:defRPr>
            </a:pPr>
            <a:r>
              <a:rPr sz="1500" b="0">
                <a:solidFill>
                  <a:srgbClr val="176B57"/>
                </a:solidFill>
                <a:latin typeface="Helvetica Neue"/>
                <a:ea typeface="Helvetica Neue"/>
                <a:cs typeface="Helvetica Neue"/>
              </a:rPr>
              <a:t>Both servers expose the same HTTP routes and JSON field names.</a:t>
            </a:r>
          </a:p>
        </p:txBody>
      </p:sp>
      <p:sp>
        <p:nvSpPr>
          <p:cNvPr id="16" name="">
            <a:extLst xmlns:a="http://schemas.openxmlformats.org/drawingml/2006/main">
              <a:ext uri="{FF2B5EF4-FFF2-40B4-BE49-F238E27FC236}">
                <a16:creationId xmlns:a16="http://schemas.microsoft.com/office/drawing/2014/main" id="{5AE47F81-0699-4B16-B6B2-A768D880B2B5}"/>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17" name="">
            <a:extLst xmlns:a="http://schemas.openxmlformats.org/drawingml/2006/main">
              <a:ext uri="{FF2B5EF4-FFF2-40B4-BE49-F238E27FC236}">
                <a16:creationId xmlns:a16="http://schemas.microsoft.com/office/drawing/2014/main" id="{94E40E49-B56D-4923-B30A-AA538C93802E}"/>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2</a:t>
            </a:r>
          </a:p>
        </p:txBody>
      </p:sp>
    </p:spTree>
    <p:extLst>
      <p:ext uri="{BB962C8B-B14F-4D97-AF65-F5344CB8AC3E}">
        <p14:creationId xmlns:p14="http://schemas.microsoft.com/office/powerpoint/2010/main" val="18094675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7A1877A-978A-4D54-BD24-CE5BF8AE380C}"/>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System structure</a:t>
            </a:r>
          </a:p>
        </p:txBody>
      </p:sp>
      <p:sp>
        <p:nvSpPr>
          <p:cNvPr id="2" name="">
            <a:extLst xmlns:a="http://schemas.openxmlformats.org/drawingml/2006/main">
              <a:ext uri="{FF2B5EF4-FFF2-40B4-BE49-F238E27FC236}">
                <a16:creationId xmlns:a16="http://schemas.microsoft.com/office/drawing/2014/main" id="{F338BE72-80D7-4291-8379-9B6FE24D5388}"/>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4D388D8-167F-4502-8147-3075E5D63FE1}"/>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Only one backend runs on port 8080 at a time</a:t>
            </a:r>
          </a:p>
        </p:txBody>
      </p:sp>
      <p:sp>
        <p:nvSpPr>
          <p:cNvPr id="4" name="">
            <a:extLst xmlns:a="http://schemas.openxmlformats.org/drawingml/2006/main">
              <a:ext uri="{FF2B5EF4-FFF2-40B4-BE49-F238E27FC236}">
                <a16:creationId xmlns:a16="http://schemas.microsoft.com/office/drawing/2014/main" id="{0178E6F6-81F7-487A-8D25-6E1E1966340E}"/>
              </a:ext>
            </a:extLst>
          </p:cNvPr>
          <p:cNvSpPr>
            <a:spLocks xmlns:a="http://schemas.openxmlformats.org/drawingml/2006/main" noGrp="1"/>
          </p:cNvSpPr>
          <p:nvPr/>
        </p:nvSpPr>
        <p:spPr>
          <a:xfrm xmlns:a="http://schemas.openxmlformats.org/drawingml/2006/main">
            <a:off x="4333875" y="1524000"/>
            <a:ext cx="3524250" cy="495300"/>
          </a:xfrm>
          <a:prstGeom xmlns:a="http://schemas.openxmlformats.org/drawingml/2006/main" prst="rect">
            <a:avLst/>
          </a:prstGeom>
          <a:solidFill xmlns:a="http://schemas.openxmlformats.org/drawingml/2006/main">
            <a:srgbClr val="EAF4F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76B57"/>
                </a:solidFill>
                <a:latin typeface="Helvetica Neue"/>
                <a:ea typeface="Helvetica Neue"/>
                <a:cs typeface="Helvetica Neue"/>
              </a:defRPr>
            </a:pPr>
            <a:r>
              <a:rPr sz="2100" b="1">
                <a:solidFill>
                  <a:srgbClr val="176B57"/>
                </a:solidFill>
                <a:latin typeface="Helvetica Neue"/>
                <a:ea typeface="Helvetica Neue"/>
                <a:cs typeface="Helvetica Neue"/>
              </a:rPr>
              <a:t>Shared browser interface</a:t>
            </a:r>
          </a:p>
        </p:txBody>
      </p:sp>
      <p:sp>
        <p:nvSpPr>
          <p:cNvPr id="5" name="">
            <a:extLst xmlns:a="http://schemas.openxmlformats.org/drawingml/2006/main">
              <a:ext uri="{FF2B5EF4-FFF2-40B4-BE49-F238E27FC236}">
                <a16:creationId xmlns:a16="http://schemas.microsoft.com/office/drawing/2014/main" id="{92A48864-5F7A-4DD8-89E2-D6482FA53B00}"/>
              </a:ext>
            </a:extLst>
          </p:cNvPr>
          <p:cNvSpPr>
            <a:spLocks xmlns:a="http://schemas.openxmlformats.org/drawingml/2006/main" noGrp="1"/>
          </p:cNvSpPr>
          <p:nvPr/>
        </p:nvSpPr>
        <p:spPr>
          <a:xfrm xmlns:a="http://schemas.openxmlformats.org/drawingml/2006/main">
            <a:off x="4333875" y="20383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HTML  |  CSS  |  JavaScript</a:t>
            </a:r>
          </a:p>
        </p:txBody>
      </p:sp>
      <p:sp>
        <p:nvSpPr>
          <p:cNvPr id="6" name="">
            <a:extLst xmlns:a="http://schemas.openxmlformats.org/drawingml/2006/main">
              <a:ext uri="{FF2B5EF4-FFF2-40B4-BE49-F238E27FC236}">
                <a16:creationId xmlns:a16="http://schemas.microsoft.com/office/drawing/2014/main" id="{FCB60883-E025-44F5-8D39-F3F9E8B0C32A}"/>
              </a:ext>
            </a:extLst>
          </p:cNvPr>
          <p:cNvSpPr>
            <a:spLocks xmlns:a="http://schemas.openxmlformats.org/drawingml/2006/main" noGrp="1"/>
          </p:cNvSpPr>
          <p:nvPr/>
        </p:nvSpPr>
        <p:spPr>
          <a:xfrm xmlns:a="http://schemas.openxmlformats.org/drawingml/2006/main">
            <a:off x="1143000" y="3200400"/>
            <a:ext cx="3714750" cy="533400"/>
          </a:xfrm>
          <a:prstGeom xmlns:a="http://schemas.openxmlformats.org/drawingml/2006/main" prst="rect">
            <a:avLst/>
          </a:prstGeom>
          <a:solidFill xmlns:a="http://schemas.openxmlformats.org/drawingml/2006/main">
            <a:srgbClr val="F8ECE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A84C2F"/>
                </a:solidFill>
                <a:latin typeface="Helvetica Neue"/>
                <a:ea typeface="Helvetica Neue"/>
                <a:cs typeface="Helvetica Neue"/>
              </a:defRPr>
            </a:pPr>
            <a:r>
              <a:rPr sz="2250" b="1">
                <a:solidFill>
                  <a:srgbClr val="A84C2F"/>
                </a:solidFill>
                <a:latin typeface="Helvetica Neue"/>
                <a:ea typeface="Helvetica Neue"/>
                <a:cs typeface="Helvetica Neue"/>
              </a:rPr>
              <a:t>Rust backend</a:t>
            </a:r>
          </a:p>
        </p:txBody>
      </p:sp>
      <p:sp>
        <p:nvSpPr>
          <p:cNvPr id="7" name="">
            <a:extLst xmlns:a="http://schemas.openxmlformats.org/drawingml/2006/main">
              <a:ext uri="{FF2B5EF4-FFF2-40B4-BE49-F238E27FC236}">
                <a16:creationId xmlns:a16="http://schemas.microsoft.com/office/drawing/2014/main" id="{2D003E80-AAFB-45C6-93DA-3C83A4D1AE36}"/>
              </a:ext>
            </a:extLst>
          </p:cNvPr>
          <p:cNvSpPr>
            <a:spLocks xmlns:a="http://schemas.openxmlformats.org/drawingml/2006/main" noGrp="1"/>
          </p:cNvSpPr>
          <p:nvPr/>
        </p:nvSpPr>
        <p:spPr>
          <a:xfrm xmlns:a="http://schemas.openxmlformats.org/drawingml/2006/main">
            <a:off x="1524000" y="3905250"/>
            <a:ext cx="2952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0">
                <a:solidFill>
                  <a:srgbClr val="172A32"/>
                </a:solidFill>
                <a:latin typeface="Helvetica Neue"/>
                <a:ea typeface="Helvetica Neue"/>
                <a:cs typeface="Helvetica Neue"/>
              </a:defRPr>
            </a:pPr>
            <a:r>
              <a:rPr sz="1650" b="0">
                <a:solidFill>
                  <a:srgbClr val="172A32"/>
                </a:solidFill>
                <a:latin typeface="Helvetica Neue"/>
                <a:ea typeface="Helvetica Neue"/>
                <a:cs typeface="Helvetica Neue"/>
              </a:rPr>
              <a:t>Typed models</a:t>
            </a:r>
          </a:p>
          <a:p xmlns:a="http://schemas.openxmlformats.org/drawingml/2006/main">
            <a:pPr algn="ctr">
              <a:defRPr sz="1650" b="0">
                <a:solidFill>
                  <a:srgbClr val="172A32"/>
                </a:solidFill>
                <a:latin typeface="Helvetica Neue"/>
                <a:ea typeface="Helvetica Neue"/>
                <a:cs typeface="Helvetica Neue"/>
              </a:defRPr>
            </a:pPr>
            <a:r>
              <a:rPr sz="1650" b="0">
                <a:solidFill>
                  <a:srgbClr val="172A32"/>
                </a:solidFill>
                <a:latin typeface="Helvetica Neue"/>
                <a:ea typeface="Helvetica Neue"/>
                <a:cs typeface="Helvetica Neue"/>
              </a:rPr>
              <a:t>Tokio worker and tasks</a:t>
            </a:r>
          </a:p>
          <a:p xmlns:a="http://schemas.openxmlformats.org/drawingml/2006/main">
            <a:pPr algn="ctr">
              <a:defRPr sz="1650" b="0">
                <a:solidFill>
                  <a:srgbClr val="172A32"/>
                </a:solidFill>
                <a:latin typeface="Helvetica Neue"/>
                <a:ea typeface="Helvetica Neue"/>
                <a:cs typeface="Helvetica Neue"/>
              </a:defRPr>
            </a:pPr>
            <a:r>
              <a:rPr sz="1650" b="0">
                <a:solidFill>
                  <a:srgbClr val="172A32"/>
                </a:solidFill>
                <a:latin typeface="Helvetica Neue"/>
                <a:ea typeface="Helvetica Neue"/>
                <a:cs typeface="Helvetica Neue"/>
              </a:rPr>
              <a:t>Serde JSON</a:t>
            </a:r>
          </a:p>
        </p:txBody>
      </p:sp>
      <p:sp>
        <p:nvSpPr>
          <p:cNvPr id="8" name="">
            <a:extLst xmlns:a="http://schemas.openxmlformats.org/drawingml/2006/main">
              <a:ext uri="{FF2B5EF4-FFF2-40B4-BE49-F238E27FC236}">
                <a16:creationId xmlns:a16="http://schemas.microsoft.com/office/drawing/2014/main" id="{896035FA-B4EC-40E2-995A-E34A6884F3CC}"/>
              </a:ext>
            </a:extLst>
          </p:cNvPr>
          <p:cNvSpPr>
            <a:spLocks xmlns:a="http://schemas.openxmlformats.org/drawingml/2006/main" noGrp="1"/>
          </p:cNvSpPr>
          <p:nvPr/>
        </p:nvSpPr>
        <p:spPr>
          <a:xfrm xmlns:a="http://schemas.openxmlformats.org/drawingml/2006/main">
            <a:off x="7334250" y="3200400"/>
            <a:ext cx="3714750" cy="533400"/>
          </a:xfrm>
          <a:prstGeom xmlns:a="http://schemas.openxmlformats.org/drawingml/2006/main" prst="rect">
            <a:avLst/>
          </a:prstGeom>
          <a:solidFill xmlns:a="http://schemas.openxmlformats.org/drawingml/2006/main">
            <a:srgbClr val="E8F4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087EA4"/>
                </a:solidFill>
                <a:latin typeface="Helvetica Neue"/>
                <a:ea typeface="Helvetica Neue"/>
                <a:cs typeface="Helvetica Neue"/>
              </a:defRPr>
            </a:pPr>
            <a:r>
              <a:rPr sz="2250" b="1">
                <a:solidFill>
                  <a:srgbClr val="087EA4"/>
                </a:solidFill>
                <a:latin typeface="Helvetica Neue"/>
                <a:ea typeface="Helvetica Neue"/>
                <a:cs typeface="Helvetica Neue"/>
              </a:rPr>
              <a:t>Go backend</a:t>
            </a:r>
          </a:p>
        </p:txBody>
      </p:sp>
      <p:sp>
        <p:nvSpPr>
          <p:cNvPr id="9" name="">
            <a:extLst xmlns:a="http://schemas.openxmlformats.org/drawingml/2006/main">
              <a:ext uri="{FF2B5EF4-FFF2-40B4-BE49-F238E27FC236}">
                <a16:creationId xmlns:a16="http://schemas.microsoft.com/office/drawing/2014/main" id="{85DDB71A-701C-4710-9B55-9F3CC98F496D}"/>
              </a:ext>
            </a:extLst>
          </p:cNvPr>
          <p:cNvSpPr>
            <a:spLocks xmlns:a="http://schemas.openxmlformats.org/drawingml/2006/main" noGrp="1"/>
          </p:cNvSpPr>
          <p:nvPr/>
        </p:nvSpPr>
        <p:spPr>
          <a:xfrm xmlns:a="http://schemas.openxmlformats.org/drawingml/2006/main">
            <a:off x="7715250" y="3905250"/>
            <a:ext cx="2952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0">
                <a:solidFill>
                  <a:srgbClr val="172A32"/>
                </a:solidFill>
                <a:latin typeface="Helvetica Neue"/>
                <a:ea typeface="Helvetica Neue"/>
                <a:cs typeface="Helvetica Neue"/>
              </a:defRPr>
            </a:pPr>
            <a:r>
              <a:rPr sz="1650" b="0">
                <a:solidFill>
                  <a:srgbClr val="172A32"/>
                </a:solidFill>
                <a:latin typeface="Helvetica Neue"/>
                <a:ea typeface="Helvetica Neue"/>
                <a:cs typeface="Helvetica Neue"/>
              </a:rPr>
              <a:t>Structs and slices</a:t>
            </a:r>
          </a:p>
          <a:p xmlns:a="http://schemas.openxmlformats.org/drawingml/2006/main">
            <a:pPr algn="ctr">
              <a:defRPr sz="1650" b="0">
                <a:solidFill>
                  <a:srgbClr val="172A32"/>
                </a:solidFill>
                <a:latin typeface="Helvetica Neue"/>
                <a:ea typeface="Helvetica Neue"/>
                <a:cs typeface="Helvetica Neue"/>
              </a:defRPr>
            </a:pPr>
            <a:r>
              <a:rPr sz="1650" b="0">
                <a:solidFill>
                  <a:srgbClr val="172A32"/>
                </a:solidFill>
                <a:latin typeface="Helvetica Neue"/>
                <a:ea typeface="Helvetica Neue"/>
                <a:cs typeface="Helvetica Neue"/>
              </a:rPr>
              <a:t>Goroutines and channels</a:t>
            </a:r>
          </a:p>
          <a:p xmlns:a="http://schemas.openxmlformats.org/drawingml/2006/main">
            <a:pPr algn="ctr">
              <a:defRPr sz="1650" b="0">
                <a:solidFill>
                  <a:srgbClr val="172A32"/>
                </a:solidFill>
                <a:latin typeface="Helvetica Neue"/>
                <a:ea typeface="Helvetica Neue"/>
                <a:cs typeface="Helvetica Neue"/>
              </a:defRPr>
            </a:pPr>
            <a:r>
              <a:rPr sz="1650" b="0">
                <a:solidFill>
                  <a:srgbClr val="172A32"/>
                </a:solidFill>
                <a:latin typeface="Helvetica Neue"/>
                <a:ea typeface="Helvetica Neue"/>
                <a:cs typeface="Helvetica Neue"/>
              </a:rPr>
              <a:t>net/http JSON</a:t>
            </a:r>
          </a:p>
        </p:txBody>
      </p:sp>
      <p:sp>
        <p:nvSpPr>
          <p:cNvPr id="10" name="">
            <a:extLst xmlns:a="http://schemas.openxmlformats.org/drawingml/2006/main">
              <a:ext uri="{FF2B5EF4-FFF2-40B4-BE49-F238E27FC236}">
                <a16:creationId xmlns:a16="http://schemas.microsoft.com/office/drawing/2014/main" id="{82A8F713-1486-4A6F-8C01-71B601D99F31}"/>
              </a:ext>
            </a:extLst>
          </p:cNvPr>
          <p:cNvSpPr>
            <a:spLocks xmlns:a="http://schemas.openxmlformats.org/drawingml/2006/main" noGrp="1"/>
          </p:cNvSpPr>
          <p:nvPr/>
        </p:nvSpPr>
        <p:spPr>
          <a:xfrm xmlns:a="http://schemas.openxmlformats.org/drawingml/2006/main">
            <a:off x="4905375" y="52387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Same API contract</a:t>
            </a:r>
          </a:p>
        </p:txBody>
      </p:sp>
      <p:sp>
        <p:nvSpPr>
          <p:cNvPr id="11" name="">
            <a:extLst xmlns:a="http://schemas.openxmlformats.org/drawingml/2006/main">
              <a:ext uri="{FF2B5EF4-FFF2-40B4-BE49-F238E27FC236}">
                <a16:creationId xmlns:a16="http://schemas.microsoft.com/office/drawing/2014/main" id="{A2069455-17DB-491D-8A28-8AC3602F7565}"/>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12" name="">
            <a:extLst xmlns:a="http://schemas.openxmlformats.org/drawingml/2006/main">
              <a:ext uri="{FF2B5EF4-FFF2-40B4-BE49-F238E27FC236}">
                <a16:creationId xmlns:a16="http://schemas.microsoft.com/office/drawing/2014/main" id="{D8D47B8C-3447-4438-BB26-220FB5E55D95}"/>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3</a:t>
            </a:r>
          </a:p>
        </p:txBody>
      </p:sp>
    </p:spTree>
    <p:extLst>
      <p:ext uri="{BB962C8B-B14F-4D97-AF65-F5344CB8AC3E}">
        <p14:creationId xmlns:p14="http://schemas.microsoft.com/office/powerpoint/2010/main" val="2034337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5DAC8D-95C9-4867-8E64-176FE6BBB957}"/>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Shared application interface</a:t>
            </a:r>
          </a:p>
        </p:txBody>
      </p:sp>
      <p:sp>
        <p:nvSpPr>
          <p:cNvPr id="2" name="">
            <a:extLst xmlns:a="http://schemas.openxmlformats.org/drawingml/2006/main">
              <a:ext uri="{FF2B5EF4-FFF2-40B4-BE49-F238E27FC236}">
                <a16:creationId xmlns:a16="http://schemas.microsoft.com/office/drawing/2014/main" id="{8BC5841B-EDD7-45EF-96E9-A9690280B603}"/>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D47F476-23C5-43A6-8589-5E62BDC3B703}"/>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The initial screen exposes messaging, search, and simulation in one view</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ad81c6f779d4564"/>
          <a:stretch xmlns:a="http://schemas.openxmlformats.org/drawingml/2006/main"/>
        </p:blipFill>
        <p:spPr>
          <a:xfrm xmlns:a="http://schemas.openxmlformats.org/drawingml/2006/main">
            <a:off x="3099955" y="1428750"/>
            <a:ext cx="5992091"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5B60144-A4A3-4E58-A829-10A0F2B325EF}"/>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6" name="">
            <a:extLst xmlns:a="http://schemas.openxmlformats.org/drawingml/2006/main">
              <a:ext uri="{FF2B5EF4-FFF2-40B4-BE49-F238E27FC236}">
                <a16:creationId xmlns:a16="http://schemas.microsoft.com/office/drawing/2014/main" id="{3916B18B-9685-4417-9EBD-6F7F32400780}"/>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4</a:t>
            </a:r>
          </a:p>
        </p:txBody>
      </p:sp>
    </p:spTree>
    <p:extLst>
      <p:ext uri="{BB962C8B-B14F-4D97-AF65-F5344CB8AC3E}">
        <p14:creationId xmlns:p14="http://schemas.microsoft.com/office/powerpoint/2010/main" val="14998805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7377BC6-BC02-4FD0-9C77-22F71217869A}"/>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Shared API and data contract</a:t>
            </a:r>
          </a:p>
        </p:txBody>
      </p:sp>
      <p:sp>
        <p:nvSpPr>
          <p:cNvPr id="2" name="">
            <a:extLst xmlns:a="http://schemas.openxmlformats.org/drawingml/2006/main">
              <a:ext uri="{FF2B5EF4-FFF2-40B4-BE49-F238E27FC236}">
                <a16:creationId xmlns:a16="http://schemas.microsoft.com/office/drawing/2014/main" id="{81878253-5281-4B32-A251-C8569C5127D6}"/>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105D5E5-56D5-487E-802F-FDF9F1EA894D}"/>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Stable string user IDs allow the same JavaScript client to use either backend</a:t>
            </a:r>
          </a:p>
        </p:txBody>
      </p:sp>
      <p:sp>
        <p:nvSpPr>
          <p:cNvPr id="4" name="">
            <a:extLst xmlns:a="http://schemas.openxmlformats.org/drawingml/2006/main">
              <a:ext uri="{FF2B5EF4-FFF2-40B4-BE49-F238E27FC236}">
                <a16:creationId xmlns:a16="http://schemas.microsoft.com/office/drawing/2014/main" id="{D6F3693B-7769-47EB-A6AB-0495590ABF8F}"/>
              </a:ext>
            </a:extLst>
          </p:cNvPr>
          <p:cNvSpPr>
            <a:spLocks xmlns:a="http://schemas.openxmlformats.org/drawingml/2006/main" noGrp="1"/>
          </p:cNvSpPr>
          <p:nvPr/>
        </p:nvSpPr>
        <p:spPr>
          <a:xfrm xmlns:a="http://schemas.openxmlformats.org/drawingml/2006/main">
            <a:off x="952500" y="1809750"/>
            <a:ext cx="4476750" cy="2667000"/>
          </a:xfrm>
          <a:prstGeom xmlns:a="http://schemas.openxmlformats.org/drawingml/2006/main" prst="rect">
            <a:avLst/>
          </a:prstGeom>
          <a:solidFill xmlns:a="http://schemas.openxmlformats.org/drawingml/2006/main">
            <a:srgbClr val="EAF4F0"/>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76B57"/>
                </a:solidFill>
                <a:latin typeface="Helvetica Neue"/>
                <a:ea typeface="Helvetica Neue"/>
                <a:cs typeface="Helvetica Neue"/>
              </a:defRPr>
            </a:pPr>
            <a:r>
              <a:rPr sz="2025" b="1">
                <a:solidFill>
                  <a:srgbClr val="176B57"/>
                </a:solidFill>
                <a:latin typeface="Helvetica Neue"/>
                <a:ea typeface="Helvetica Neue"/>
                <a:cs typeface="Helvetica Neue"/>
              </a:rPr>
              <a:t>GET    /api/users</a:t>
            </a:r>
          </a:p>
          <a:p xmlns:a="http://schemas.openxmlformats.org/drawingml/2006/main">
            <a:pPr algn="l">
              <a:defRPr sz="2025" b="1">
                <a:solidFill>
                  <a:srgbClr val="176B57"/>
                </a:solidFill>
                <a:latin typeface="Helvetica Neue"/>
                <a:ea typeface="Helvetica Neue"/>
                <a:cs typeface="Helvetica Neue"/>
              </a:defRPr>
            </a:pPr>
            <a:r>
              <a:rPr sz="2025" b="1">
                <a:solidFill>
                  <a:srgbClr val="176B57"/>
                </a:solidFill>
                <a:latin typeface="Helvetica Neue"/>
                <a:ea typeface="Helvetica Neue"/>
                <a:cs typeface="Helvetica Neue"/>
              </a:rPr>
              <a:t>POST   /api/messages</a:t>
            </a:r>
          </a:p>
          <a:p xmlns:a="http://schemas.openxmlformats.org/drawingml/2006/main">
            <a:pPr algn="l">
              <a:defRPr sz="2025" b="1">
                <a:solidFill>
                  <a:srgbClr val="176B57"/>
                </a:solidFill>
                <a:latin typeface="Helvetica Neue"/>
                <a:ea typeface="Helvetica Neue"/>
                <a:cs typeface="Helvetica Neue"/>
              </a:defRPr>
            </a:pPr>
            <a:r>
              <a:rPr sz="2025" b="1">
                <a:solidFill>
                  <a:srgbClr val="176B57"/>
                </a:solidFill>
                <a:latin typeface="Helvetica Neue"/>
                <a:ea typeface="Helvetica Neue"/>
                <a:cs typeface="Helvetica Neue"/>
              </a:rPr>
              <a:t>GET    /api/messages</a:t>
            </a:r>
          </a:p>
          <a:p xmlns:a="http://schemas.openxmlformats.org/drawingml/2006/main">
            <a:pPr algn="l">
              <a:defRPr sz="2025" b="1">
                <a:solidFill>
                  <a:srgbClr val="176B57"/>
                </a:solidFill>
                <a:latin typeface="Helvetica Neue"/>
                <a:ea typeface="Helvetica Neue"/>
                <a:cs typeface="Helvetica Neue"/>
              </a:defRPr>
            </a:pPr>
            <a:r>
              <a:rPr sz="2025" b="1">
                <a:solidFill>
                  <a:srgbClr val="176B57"/>
                </a:solidFill>
                <a:latin typeface="Helvetica Neue"/>
                <a:ea typeface="Helvetica Neue"/>
                <a:cs typeface="Helvetica Neue"/>
              </a:rPr>
              <a:t>GET    /api/conversation</a:t>
            </a:r>
          </a:p>
          <a:p xmlns:a="http://schemas.openxmlformats.org/drawingml/2006/main">
            <a:pPr algn="l">
              <a:defRPr sz="2025" b="1">
                <a:solidFill>
                  <a:srgbClr val="176B57"/>
                </a:solidFill>
                <a:latin typeface="Helvetica Neue"/>
                <a:ea typeface="Helvetica Neue"/>
                <a:cs typeface="Helvetica Neue"/>
              </a:defRPr>
            </a:pPr>
            <a:r>
              <a:rPr sz="2025" b="1">
                <a:solidFill>
                  <a:srgbClr val="176B57"/>
                </a:solidFill>
                <a:latin typeface="Helvetica Neue"/>
                <a:ea typeface="Helvetica Neue"/>
                <a:cs typeface="Helvetica Neue"/>
              </a:rPr>
              <a:t>POST   /api/simulation</a:t>
            </a:r>
          </a:p>
        </p:txBody>
      </p:sp>
      <p:sp>
        <p:nvSpPr>
          <p:cNvPr id="5" name="">
            <a:extLst xmlns:a="http://schemas.openxmlformats.org/drawingml/2006/main">
              <a:ext uri="{FF2B5EF4-FFF2-40B4-BE49-F238E27FC236}">
                <a16:creationId xmlns:a16="http://schemas.microsoft.com/office/drawing/2014/main" id="{DD2E9B44-A534-4B25-BC8B-26FDD2546F09}"/>
              </a:ext>
            </a:extLst>
          </p:cNvPr>
          <p:cNvSpPr>
            <a:spLocks xmlns:a="http://schemas.openxmlformats.org/drawingml/2006/main" noGrp="1"/>
          </p:cNvSpPr>
          <p:nvPr/>
        </p:nvSpPr>
        <p:spPr>
          <a:xfrm xmlns:a="http://schemas.openxmlformats.org/drawingml/2006/main">
            <a:off x="6477000" y="1809750"/>
            <a:ext cx="4476750" cy="2667000"/>
          </a:xfrm>
          <a:prstGeom xmlns:a="http://schemas.openxmlformats.org/drawingml/2006/main" prst="rect">
            <a:avLst/>
          </a:prstGeom>
          <a:solidFill xmlns:a="http://schemas.openxmlformats.org/drawingml/2006/main">
            <a:srgbClr val="0F1E1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a:t>
            </a:r>
          </a:p>
          <a:p xmlns:a="http://schemas.openxmlformats.org/drawingml/2006/main">
            <a:pPr algn="l">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  "sender_id": "alice",</a:t>
            </a:r>
          </a:p>
          <a:p xmlns:a="http://schemas.openxmlformats.org/drawingml/2006/main">
            <a:pPr algn="l">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  "recipient_id": "bob",</a:t>
            </a:r>
          </a:p>
          <a:p xmlns:a="http://schemas.openxmlformats.org/drawingml/2006/main">
            <a:pPr algn="l">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  "content": "Meeting at 3"</a:t>
            </a:r>
          </a:p>
          <a:p xmlns:a="http://schemas.openxmlformats.org/drawingml/2006/main">
            <a:pPr algn="l">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a:t>
            </a:r>
          </a:p>
        </p:txBody>
      </p:sp>
      <p:sp>
        <p:nvSpPr>
          <p:cNvPr id="6" name="">
            <a:extLst xmlns:a="http://schemas.openxmlformats.org/drawingml/2006/main">
              <a:ext uri="{FF2B5EF4-FFF2-40B4-BE49-F238E27FC236}">
                <a16:creationId xmlns:a16="http://schemas.microsoft.com/office/drawing/2014/main" id="{78FCED55-B091-4A38-B84D-881909B461EB}"/>
              </a:ext>
            </a:extLst>
          </p:cNvPr>
          <p:cNvSpPr>
            <a:spLocks xmlns:a="http://schemas.openxmlformats.org/drawingml/2006/main" noGrp="1"/>
          </p:cNvSpPr>
          <p:nvPr/>
        </p:nvSpPr>
        <p:spPr>
          <a:xfrm xmlns:a="http://schemas.openxmlformats.org/drawingml/2006/main">
            <a:off x="1428750" y="50482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0231F"/>
                </a:solidFill>
                <a:latin typeface="Helvetica Neue"/>
                <a:ea typeface="Helvetica Neue"/>
                <a:cs typeface="Helvetica Neue"/>
              </a:defRPr>
            </a:pPr>
            <a:r>
              <a:rPr sz="1800" b="1">
                <a:solidFill>
                  <a:srgbClr val="10231F"/>
                </a:solidFill>
                <a:latin typeface="Helvetica Neue"/>
                <a:ea typeface="Helvetica Neue"/>
                <a:cs typeface="Helvetica Neue"/>
              </a:rPr>
              <a:t>The browser sends alice, bob, and charlie directly. Neither backend requires frontend conversion.</a:t>
            </a:r>
          </a:p>
        </p:txBody>
      </p:sp>
      <p:sp>
        <p:nvSpPr>
          <p:cNvPr id="7" name="">
            <a:extLst xmlns:a="http://schemas.openxmlformats.org/drawingml/2006/main">
              <a:ext uri="{FF2B5EF4-FFF2-40B4-BE49-F238E27FC236}">
                <a16:creationId xmlns:a16="http://schemas.microsoft.com/office/drawing/2014/main" id="{C1CCB645-7D47-4950-B89E-369144D35593}"/>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8" name="">
            <a:extLst xmlns:a="http://schemas.openxmlformats.org/drawingml/2006/main">
              <a:ext uri="{FF2B5EF4-FFF2-40B4-BE49-F238E27FC236}">
                <a16:creationId xmlns:a16="http://schemas.microsoft.com/office/drawing/2014/main" id="{FB281605-5F83-48A5-A225-7970890BFD86}"/>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5</a:t>
            </a:r>
          </a:p>
        </p:txBody>
      </p:sp>
    </p:spTree>
    <p:extLst>
      <p:ext uri="{BB962C8B-B14F-4D97-AF65-F5344CB8AC3E}">
        <p14:creationId xmlns:p14="http://schemas.microsoft.com/office/powerpoint/2010/main" val="3407494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FCA6A4F-CCE8-44FE-977F-7B13C560BD4D}"/>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Sending messages and viewing a conversation</a:t>
            </a:r>
          </a:p>
        </p:txBody>
      </p:sp>
      <p:sp>
        <p:nvSpPr>
          <p:cNvPr id="2" name="">
            <a:extLst xmlns:a="http://schemas.openxmlformats.org/drawingml/2006/main">
              <a:ext uri="{FF2B5EF4-FFF2-40B4-BE49-F238E27FC236}">
                <a16:creationId xmlns:a16="http://schemas.microsoft.com/office/drawing/2014/main" id="{483953BA-F76F-40FE-A11C-2C3AC9626DDA}"/>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94D5189-86AF-4980-AC20-CA5EF7C71C79}"/>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The shared interface exposes participant selection, stored messages, the composer, and Send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67b2f19f345431c"/>
          <a:stretch xmlns:a="http://schemas.openxmlformats.org/drawingml/2006/main"/>
        </p:blipFill>
        <p:spPr>
          <a:xfrm xmlns:a="http://schemas.openxmlformats.org/drawingml/2006/main">
            <a:off x="4274200" y="1428750"/>
            <a:ext cx="3643599"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96799E2-2574-4D4D-A694-29D6B9F0A509}"/>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6" name="">
            <a:extLst xmlns:a="http://schemas.openxmlformats.org/drawingml/2006/main">
              <a:ext uri="{FF2B5EF4-FFF2-40B4-BE49-F238E27FC236}">
                <a16:creationId xmlns:a16="http://schemas.microsoft.com/office/drawing/2014/main" id="{8FFE952C-033B-4956-83EA-0214B4941348}"/>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6</a:t>
            </a:r>
          </a:p>
        </p:txBody>
      </p:sp>
    </p:spTree>
    <p:extLst>
      <p:ext uri="{BB962C8B-B14F-4D97-AF65-F5344CB8AC3E}">
        <p14:creationId xmlns:p14="http://schemas.microsoft.com/office/powerpoint/2010/main" val="15741002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5FA48C-DD97-4789-A447-64DDF004476A}"/>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Filtering message history</a:t>
            </a:r>
          </a:p>
        </p:txBody>
      </p:sp>
      <p:sp>
        <p:nvSpPr>
          <p:cNvPr id="2" name="">
            <a:extLst xmlns:a="http://schemas.openxmlformats.org/drawingml/2006/main">
              <a:ext uri="{FF2B5EF4-FFF2-40B4-BE49-F238E27FC236}">
                <a16:creationId xmlns:a16="http://schemas.microsoft.com/office/drawing/2014/main" id="{E709650D-9FDF-4218-9B57-8342D43C1739}"/>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567AC6A-3AB7-4C82-B0C0-DC2984DACAA6}"/>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Participant and keyword criteria can be used separately or together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0c4b468877e45a5"/>
          <a:stretch xmlns:a="http://schemas.openxmlformats.org/drawingml/2006/main"/>
        </p:blipFill>
        <p:spPr>
          <a:xfrm xmlns:a="http://schemas.openxmlformats.org/drawingml/2006/main">
            <a:off x="4177984" y="1428750"/>
            <a:ext cx="3836033"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C6CA23A-0E8B-4111-B815-54A4BDD6415B}"/>
              </a:ext>
            </a:extLst>
          </p:cNvPr>
          <p:cNvSpPr>
            <a:spLocks xmlns:a="http://schemas.openxmlformats.org/drawingml/2006/main" noGrp="1"/>
          </p:cNvSpPr>
          <p:nvPr/>
        </p:nvSpPr>
        <p:spPr>
          <a:xfrm xmlns:a="http://schemas.openxmlformats.org/drawingml/2006/main">
            <a:off x="762000" y="2333625"/>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Participant: Bob</a:t>
            </a:r>
          </a:p>
          <a:p xmlns:a="http://schemas.openxmlformats.org/drawingml/2006/main">
            <a:pPr algn="l">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Keyword: meeting</a:t>
            </a:r>
          </a:p>
          <a:p xmlns:a="http://schemas.openxmlformats.org/drawingml/2006/main">
            <a:pPr algn="l">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Result: one matching message</a:t>
            </a:r>
          </a:p>
        </p:txBody>
      </p:sp>
      <p:sp>
        <p:nvSpPr>
          <p:cNvPr id="6" name="">
            <a:extLst xmlns:a="http://schemas.openxmlformats.org/drawingml/2006/main">
              <a:ext uri="{FF2B5EF4-FFF2-40B4-BE49-F238E27FC236}">
                <a16:creationId xmlns:a16="http://schemas.microsoft.com/office/drawing/2014/main" id="{E5394836-3DF7-4744-947B-1B8499482912}"/>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7" name="">
            <a:extLst xmlns:a="http://schemas.openxmlformats.org/drawingml/2006/main">
              <a:ext uri="{FF2B5EF4-FFF2-40B4-BE49-F238E27FC236}">
                <a16:creationId xmlns:a16="http://schemas.microsoft.com/office/drawing/2014/main" id="{3B8C943A-10B5-494B-92DC-0545712FD89D}"/>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7</a:t>
            </a:r>
          </a:p>
        </p:txBody>
      </p:sp>
    </p:spTree>
    <p:extLst>
      <p:ext uri="{BB962C8B-B14F-4D97-AF65-F5344CB8AC3E}">
        <p14:creationId xmlns:p14="http://schemas.microsoft.com/office/powerpoint/2010/main" val="49023581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9CD72C0-7A17-4273-AA25-CB2D7BD5FA25}"/>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Running the concurrent simulation</a:t>
            </a:r>
          </a:p>
        </p:txBody>
      </p:sp>
      <p:sp>
        <p:nvSpPr>
          <p:cNvPr id="2" name="">
            <a:extLst xmlns:a="http://schemas.openxmlformats.org/drawingml/2006/main">
              <a:ext uri="{FF2B5EF4-FFF2-40B4-BE49-F238E27FC236}">
                <a16:creationId xmlns:a16="http://schemas.microsoft.com/office/drawing/2014/main" id="{F5103804-2E93-4A2A-86A1-A4639711EFAC}"/>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2FC39B-883C-4FEA-BEBE-90F35D1BF4EB}"/>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Three users send two messages each while the backend preserves unique sequential IDs</a:t>
            </a:r>
          </a:p>
        </p:txBody>
      </p:sp>
      <p:sp>
        <p:nvSpPr>
          <p:cNvPr id="4" name="">
            <a:extLst xmlns:a="http://schemas.openxmlformats.org/drawingml/2006/main">
              <a:ext uri="{FF2B5EF4-FFF2-40B4-BE49-F238E27FC236}">
                <a16:creationId xmlns:a16="http://schemas.microsoft.com/office/drawing/2014/main" id="{369FDCA2-8EDF-42D8-899E-FDE163EE155D}"/>
              </a:ext>
            </a:extLst>
          </p:cNvPr>
          <p:cNvSpPr>
            <a:spLocks xmlns:a="http://schemas.openxmlformats.org/drawingml/2006/main" noGrp="1"/>
          </p:cNvSpPr>
          <p:nvPr/>
        </p:nvSpPr>
        <p:spPr>
          <a:xfrm xmlns:a="http://schemas.openxmlformats.org/drawingml/2006/main">
            <a:off x="952500" y="1809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176B57"/>
                </a:solidFill>
                <a:latin typeface="Helvetica Neue"/>
                <a:ea typeface="Helvetica Neue"/>
                <a:cs typeface="Helvetica Neue"/>
              </a:defRPr>
            </a:pPr>
            <a:r>
              <a:rPr sz="975" b="1">
                <a:solidFill>
                  <a:srgbClr val="176B57"/>
                </a:solidFill>
                <a:latin typeface="Helvetica Neue"/>
                <a:ea typeface="Helvetica Neue"/>
                <a:cs typeface="Helvetica Neue"/>
              </a:rPr>
              <a:t>VERIFIED OUTCOME</a:t>
            </a:r>
          </a:p>
        </p:txBody>
      </p:sp>
      <p:sp>
        <p:nvSpPr>
          <p:cNvPr id="5" name="">
            <a:extLst xmlns:a="http://schemas.openxmlformats.org/drawingml/2006/main">
              <a:ext uri="{FF2B5EF4-FFF2-40B4-BE49-F238E27FC236}">
                <a16:creationId xmlns:a16="http://schemas.microsoft.com/office/drawing/2014/main" id="{989662C3-0DFF-43EA-A71A-5767BB9EAF77}"/>
              </a:ext>
            </a:extLst>
          </p:cNvPr>
          <p:cNvSpPr>
            <a:spLocks xmlns:a="http://schemas.openxmlformats.org/drawingml/2006/main" noGrp="1"/>
          </p:cNvSpPr>
          <p:nvPr/>
        </p:nvSpPr>
        <p:spPr>
          <a:xfrm xmlns:a="http://schemas.openxmlformats.org/drawingml/2006/main">
            <a:off x="952500" y="224790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941"/>
          </a:bodyPr>
          <a:lstStyle xmlns:a="http://schemas.openxmlformats.org/drawingml/2006/main"/>
          <a:p xmlns:a="http://schemas.openxmlformats.org/drawingml/2006/main">
            <a:pPr algn="l">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a:t>
            </a:r>
          </a:p>
        </p:txBody>
      </p:sp>
      <p:sp>
        <p:nvSpPr>
          <p:cNvPr id="6" name="">
            <a:extLst xmlns:a="http://schemas.openxmlformats.org/drawingml/2006/main">
              <a:ext uri="{FF2B5EF4-FFF2-40B4-BE49-F238E27FC236}">
                <a16:creationId xmlns:a16="http://schemas.microsoft.com/office/drawing/2014/main" id="{9BF84039-123C-4756-B0B1-ED8DF5142F8E}"/>
              </a:ext>
            </a:extLst>
          </p:cNvPr>
          <p:cNvSpPr>
            <a:spLocks xmlns:a="http://schemas.openxmlformats.org/drawingml/2006/main" noGrp="1"/>
          </p:cNvSpPr>
          <p:nvPr/>
        </p:nvSpPr>
        <p:spPr>
          <a:xfrm xmlns:a="http://schemas.openxmlformats.org/drawingml/2006/main">
            <a:off x="1238250" y="223837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72A32"/>
                </a:solidFill>
                <a:latin typeface="Helvetica Neue"/>
                <a:ea typeface="Helvetica Neue"/>
                <a:cs typeface="Helvetica Neue"/>
              </a:defRPr>
            </a:pPr>
            <a:r>
              <a:rPr sz="1725" b="0">
                <a:solidFill>
                  <a:srgbClr val="172A32"/>
                </a:solidFill>
                <a:latin typeface="Helvetica Neue"/>
                <a:ea typeface="Helvetica Neue"/>
                <a:cs typeface="Helvetica Neue"/>
              </a:rPr>
              <a:t>3 concurrent simulated users</a:t>
            </a:r>
          </a:p>
        </p:txBody>
      </p:sp>
      <p:sp>
        <p:nvSpPr>
          <p:cNvPr id="7" name="">
            <a:extLst xmlns:a="http://schemas.openxmlformats.org/drawingml/2006/main">
              <a:ext uri="{FF2B5EF4-FFF2-40B4-BE49-F238E27FC236}">
                <a16:creationId xmlns:a16="http://schemas.microsoft.com/office/drawing/2014/main" id="{F9012CE8-0A36-4781-B17B-CBA6F4EB7813}"/>
              </a:ext>
            </a:extLst>
          </p:cNvPr>
          <p:cNvSpPr>
            <a:spLocks xmlns:a="http://schemas.openxmlformats.org/drawingml/2006/main" noGrp="1"/>
          </p:cNvSpPr>
          <p:nvPr/>
        </p:nvSpPr>
        <p:spPr>
          <a:xfrm xmlns:a="http://schemas.openxmlformats.org/drawingml/2006/main">
            <a:off x="952500" y="291465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941"/>
          </a:bodyPr>
          <a:lstStyle xmlns:a="http://schemas.openxmlformats.org/drawingml/2006/main"/>
          <a:p xmlns:a="http://schemas.openxmlformats.org/drawingml/2006/main">
            <a:pPr algn="l">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A8F8986E-CFB2-4F9B-A164-5D7AB78ACF9F}"/>
              </a:ext>
            </a:extLst>
          </p:cNvPr>
          <p:cNvSpPr>
            <a:spLocks xmlns:a="http://schemas.openxmlformats.org/drawingml/2006/main" noGrp="1"/>
          </p:cNvSpPr>
          <p:nvPr/>
        </p:nvSpPr>
        <p:spPr>
          <a:xfrm xmlns:a="http://schemas.openxmlformats.org/drawingml/2006/main">
            <a:off x="1238250" y="290512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72A32"/>
                </a:solidFill>
                <a:latin typeface="Helvetica Neue"/>
                <a:ea typeface="Helvetica Neue"/>
                <a:cs typeface="Helvetica Neue"/>
              </a:defRPr>
            </a:pPr>
            <a:r>
              <a:rPr sz="1725" b="0">
                <a:solidFill>
                  <a:srgbClr val="172A32"/>
                </a:solidFill>
                <a:latin typeface="Helvetica Neue"/>
                <a:ea typeface="Helvetica Neue"/>
                <a:cs typeface="Helvetica Neue"/>
              </a:rPr>
              <a:t>6 accepted messages</a:t>
            </a:r>
          </a:p>
        </p:txBody>
      </p:sp>
      <p:sp>
        <p:nvSpPr>
          <p:cNvPr id="9" name="">
            <a:extLst xmlns:a="http://schemas.openxmlformats.org/drawingml/2006/main">
              <a:ext uri="{FF2B5EF4-FFF2-40B4-BE49-F238E27FC236}">
                <a16:creationId xmlns:a16="http://schemas.microsoft.com/office/drawing/2014/main" id="{E002DD56-595E-4C3F-8988-07F360F15727}"/>
              </a:ext>
            </a:extLst>
          </p:cNvPr>
          <p:cNvSpPr>
            <a:spLocks xmlns:a="http://schemas.openxmlformats.org/drawingml/2006/main" noGrp="1"/>
          </p:cNvSpPr>
          <p:nvPr/>
        </p:nvSpPr>
        <p:spPr>
          <a:xfrm xmlns:a="http://schemas.openxmlformats.org/drawingml/2006/main">
            <a:off x="952500" y="358140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941"/>
          </a:bodyPr>
          <a:lstStyle xmlns:a="http://schemas.openxmlformats.org/drawingml/2006/main"/>
          <a:p xmlns:a="http://schemas.openxmlformats.org/drawingml/2006/main">
            <a:pPr algn="l">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31C5F8EE-F868-4EC7-95E8-F02A36FEB46F}"/>
              </a:ext>
            </a:extLst>
          </p:cNvPr>
          <p:cNvSpPr>
            <a:spLocks xmlns:a="http://schemas.openxmlformats.org/drawingml/2006/main" noGrp="1"/>
          </p:cNvSpPr>
          <p:nvPr/>
        </p:nvSpPr>
        <p:spPr>
          <a:xfrm xmlns:a="http://schemas.openxmlformats.org/drawingml/2006/main">
            <a:off x="1238250" y="357187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72A32"/>
                </a:solidFill>
                <a:latin typeface="Helvetica Neue"/>
                <a:ea typeface="Helvetica Neue"/>
                <a:cs typeface="Helvetica Neue"/>
              </a:defRPr>
            </a:pPr>
            <a:r>
              <a:rPr sz="1725" b="0">
                <a:solidFill>
                  <a:srgbClr val="172A32"/>
                </a:solidFill>
                <a:latin typeface="Helvetica Neue"/>
                <a:ea typeface="Helvetica Neue"/>
                <a:cs typeface="Helvetica Neue"/>
              </a:rPr>
              <a:t>Unique sequential message IDs</a:t>
            </a:r>
          </a:p>
        </p:txBody>
      </p:sp>
      <p:sp>
        <p:nvSpPr>
          <p:cNvPr id="11" name="">
            <a:extLst xmlns:a="http://schemas.openxmlformats.org/drawingml/2006/main">
              <a:ext uri="{FF2B5EF4-FFF2-40B4-BE49-F238E27FC236}">
                <a16:creationId xmlns:a16="http://schemas.microsoft.com/office/drawing/2014/main" id="{3E30A53F-2C5D-45E1-BB71-9FCD6D1CB03A}"/>
              </a:ext>
            </a:extLst>
          </p:cNvPr>
          <p:cNvSpPr>
            <a:spLocks xmlns:a="http://schemas.openxmlformats.org/drawingml/2006/main" noGrp="1"/>
          </p:cNvSpPr>
          <p:nvPr/>
        </p:nvSpPr>
        <p:spPr>
          <a:xfrm xmlns:a="http://schemas.openxmlformats.org/drawingml/2006/main">
            <a:off x="952500" y="424815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941"/>
          </a:bodyPr>
          <a:lstStyle xmlns:a="http://schemas.openxmlformats.org/drawingml/2006/main"/>
          <a:p xmlns:a="http://schemas.openxmlformats.org/drawingml/2006/main">
            <a:pPr algn="l">
              <a:defRPr sz="1725" b="1">
                <a:solidFill>
                  <a:srgbClr val="176B57"/>
                </a:solidFill>
                <a:latin typeface="Helvetica Neue"/>
                <a:ea typeface="Helvetica Neue"/>
                <a:cs typeface="Helvetica Neue"/>
              </a:defRPr>
            </a:pPr>
            <a:r>
              <a:rPr sz="1725" b="1">
                <a:solidFill>
                  <a:srgbClr val="176B57"/>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FBD706BA-46F1-4423-8870-E59F2B499A55}"/>
              </a:ext>
            </a:extLst>
          </p:cNvPr>
          <p:cNvSpPr>
            <a:spLocks xmlns:a="http://schemas.openxmlformats.org/drawingml/2006/main" noGrp="1"/>
          </p:cNvSpPr>
          <p:nvPr/>
        </p:nvSpPr>
        <p:spPr>
          <a:xfrm xmlns:a="http://schemas.openxmlformats.org/drawingml/2006/main">
            <a:off x="1238250" y="4238625"/>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72A32"/>
                </a:solidFill>
                <a:latin typeface="Helvetica Neue"/>
                <a:ea typeface="Helvetica Neue"/>
                <a:cs typeface="Helvetica Neue"/>
              </a:defRPr>
            </a:pPr>
            <a:r>
              <a:rPr sz="1725" b="0">
                <a:solidFill>
                  <a:srgbClr val="172A32"/>
                </a:solidFill>
                <a:latin typeface="Helvetica Neue"/>
                <a:ea typeface="Helvetica Neue"/>
                <a:cs typeface="Helvetica Neue"/>
              </a:rPr>
              <a:t>Messages added to shared history</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cda8e3225db4f11"/>
          <a:stretch xmlns:a="http://schemas.openxmlformats.org/drawingml/2006/main"/>
        </p:blipFill>
        <p:spPr>
          <a:xfrm xmlns:a="http://schemas.openxmlformats.org/drawingml/2006/main">
            <a:off x="6313120" y="1381125"/>
            <a:ext cx="3852010" cy="4905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A3E5F024-1CA7-4EE7-B2E4-292E70F67B86}"/>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15" name="">
            <a:extLst xmlns:a="http://schemas.openxmlformats.org/drawingml/2006/main">
              <a:ext uri="{FF2B5EF4-FFF2-40B4-BE49-F238E27FC236}">
                <a16:creationId xmlns:a16="http://schemas.microsoft.com/office/drawing/2014/main" id="{4FB44039-AFA8-48D6-9DA8-DC8661D3B47B}"/>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8</a:t>
            </a:r>
          </a:p>
        </p:txBody>
      </p:sp>
    </p:spTree>
    <p:extLst>
      <p:ext uri="{BB962C8B-B14F-4D97-AF65-F5344CB8AC3E}">
        <p14:creationId xmlns:p14="http://schemas.microsoft.com/office/powerpoint/2010/main" val="15923817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7DB39FD-9DD3-43CE-9B3E-6D99BE40F5CF}"/>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Rust backend design</a:t>
            </a:r>
          </a:p>
        </p:txBody>
      </p:sp>
      <p:sp>
        <p:nvSpPr>
          <p:cNvPr id="2" name="">
            <a:extLst xmlns:a="http://schemas.openxmlformats.org/drawingml/2006/main">
              <a:ext uri="{FF2B5EF4-FFF2-40B4-BE49-F238E27FC236}">
                <a16:creationId xmlns:a16="http://schemas.microsoft.com/office/drawing/2014/main" id="{94C2E6C7-D793-4B4D-B38C-F538F1F9575A}"/>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0ABE000-19AB-4021-A3E8-90F97875BB69}"/>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Ownership and typed results keep mutable session state behind one worker</a:t>
            </a:r>
          </a:p>
        </p:txBody>
      </p:sp>
      <p:sp>
        <p:nvSpPr>
          <p:cNvPr id="4" name="">
            <a:extLst xmlns:a="http://schemas.openxmlformats.org/drawingml/2006/main">
              <a:ext uri="{FF2B5EF4-FFF2-40B4-BE49-F238E27FC236}">
                <a16:creationId xmlns:a16="http://schemas.microsoft.com/office/drawing/2014/main" id="{3068A10F-9488-4B3B-8E11-1405C4A7C4C5}"/>
              </a:ext>
            </a:extLst>
          </p:cNvPr>
          <p:cNvSpPr>
            <a:spLocks xmlns:a="http://schemas.openxmlformats.org/drawingml/2006/main" noGrp="1"/>
          </p:cNvSpPr>
          <p:nvPr/>
        </p:nvSpPr>
        <p:spPr>
          <a:xfrm xmlns:a="http://schemas.openxmlformats.org/drawingml/2006/main">
            <a:off x="666750" y="1571625"/>
            <a:ext cx="6572250" cy="3714750"/>
          </a:xfrm>
          <a:prstGeom xmlns:a="http://schemas.openxmlformats.org/drawingml/2006/main" prst="rect">
            <a:avLst/>
          </a:prstGeom>
          <a:solidFill xmlns:a="http://schemas.openxmlformats.org/drawingml/2006/main">
            <a:srgbClr val="0F1E1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pub struct ChatService {</a:t>
            </a:r>
          </a:p>
          <a:p xmlns:a="http://schemas.openxmlformats.org/drawingml/2006/main">
            <a:pPr algn="l">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    users: HashMap&lt;String, User&gt;,</a:t>
            </a:r>
          </a:p>
          <a:p xmlns:a="http://schemas.openxmlformats.org/drawingml/2006/main">
            <a:pPr algn="l">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    history: Vec&lt;Message&gt;,</a:t>
            </a:r>
          </a:p>
          <a:p xmlns:a="http://schemas.openxmlformats.org/drawingml/2006/main">
            <a:pPr algn="l">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    next_message_id: u64,</a:t>
            </a:r>
          </a:p>
          <a:p xmlns:a="http://schemas.openxmlformats.org/drawingml/2006/main">
            <a:pPr algn="l">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a:t>
            </a:r>
          </a:p>
          <a:p xmlns:a="http://schemas.openxmlformats.org/drawingml/2006/main">
            <a:r>
              <a:t/>
            </a:r>
          </a:p>
          <a:p xmlns:a="http://schemas.openxmlformats.org/drawingml/2006/main">
            <a:pPr algn="l">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pub fn send(&amp;mut self, request: SendMessageRequest)</a:t>
            </a:r>
          </a:p>
          <a:p xmlns:a="http://schemas.openxmlformats.org/drawingml/2006/main">
            <a:pPr algn="l">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    -&gt; Result&lt;Message, ChatError&gt;</a:t>
            </a:r>
          </a:p>
        </p:txBody>
      </p:sp>
      <p:sp>
        <p:nvSpPr>
          <p:cNvPr id="5" name="">
            <a:extLst xmlns:a="http://schemas.openxmlformats.org/drawingml/2006/main">
              <a:ext uri="{FF2B5EF4-FFF2-40B4-BE49-F238E27FC236}">
                <a16:creationId xmlns:a16="http://schemas.microsoft.com/office/drawing/2014/main" id="{ABEE5666-6629-4C2F-9FD6-F6D072C6610F}"/>
              </a:ext>
            </a:extLst>
          </p:cNvPr>
          <p:cNvSpPr>
            <a:spLocks xmlns:a="http://schemas.openxmlformats.org/drawingml/2006/main" noGrp="1"/>
          </p:cNvSpPr>
          <p:nvPr/>
        </p:nvSpPr>
        <p:spPr>
          <a:xfrm xmlns:a="http://schemas.openxmlformats.org/drawingml/2006/main">
            <a:off x="7810500" y="166687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A84C2F"/>
                </a:solidFill>
                <a:latin typeface="Helvetica Neue"/>
                <a:ea typeface="Helvetica Neue"/>
                <a:cs typeface="Helvetica Neue"/>
              </a:defRPr>
            </a:pPr>
            <a:r>
              <a:rPr sz="975" b="1">
                <a:solidFill>
                  <a:srgbClr val="A84C2F"/>
                </a:solidFill>
                <a:latin typeface="Helvetica Neue"/>
                <a:ea typeface="Helvetica Neue"/>
                <a:cs typeface="Helvetica Neue"/>
              </a:rPr>
              <a:t>WHY THIS FITS RUST</a:t>
            </a:r>
          </a:p>
        </p:txBody>
      </p:sp>
      <p:sp>
        <p:nvSpPr>
          <p:cNvPr id="6" name="">
            <a:extLst xmlns:a="http://schemas.openxmlformats.org/drawingml/2006/main">
              <a:ext uri="{FF2B5EF4-FFF2-40B4-BE49-F238E27FC236}">
                <a16:creationId xmlns:a16="http://schemas.microsoft.com/office/drawing/2014/main" id="{E17C9D3D-C4BF-4EA1-9EE0-34D67576DC4A}"/>
              </a:ext>
            </a:extLst>
          </p:cNvPr>
          <p:cNvSpPr>
            <a:spLocks xmlns:a="http://schemas.openxmlformats.org/drawingml/2006/main" noGrp="1"/>
          </p:cNvSpPr>
          <p:nvPr/>
        </p:nvSpPr>
        <p:spPr>
          <a:xfrm xmlns:a="http://schemas.openxmlformats.org/drawingml/2006/main">
            <a:off x="7810500" y="210502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4555"/>
          </a:bodyPr>
          <a:lstStyle xmlns:a="http://schemas.openxmlformats.org/drawingml/2006/main"/>
          <a:p xmlns:a="http://schemas.openxmlformats.org/drawingml/2006/main">
            <a:pPr algn="l">
              <a:defRPr sz="1575" b="1">
                <a:solidFill>
                  <a:srgbClr val="176B57"/>
                </a:solidFill>
                <a:latin typeface="Helvetica Neue"/>
                <a:ea typeface="Helvetica Neue"/>
                <a:cs typeface="Helvetica Neue"/>
              </a:defRPr>
            </a:pPr>
            <a:r>
              <a:rPr sz="1575" b="1">
                <a:solidFill>
                  <a:srgbClr val="176B57"/>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587B4741-D9FE-4AD1-8261-DFD3916CF953}"/>
              </a:ext>
            </a:extLst>
          </p:cNvPr>
          <p:cNvSpPr>
            <a:spLocks xmlns:a="http://schemas.openxmlformats.org/drawingml/2006/main" noGrp="1"/>
          </p:cNvSpPr>
          <p:nvPr/>
        </p:nvSpPr>
        <p:spPr>
          <a:xfrm xmlns:a="http://schemas.openxmlformats.org/drawingml/2006/main">
            <a:off x="8096250" y="20955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93"/>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&amp;mut self makes mutation explicit</a:t>
            </a:r>
          </a:p>
        </p:txBody>
      </p:sp>
      <p:sp>
        <p:nvSpPr>
          <p:cNvPr id="8" name="">
            <a:extLst xmlns:a="http://schemas.openxmlformats.org/drawingml/2006/main">
              <a:ext uri="{FF2B5EF4-FFF2-40B4-BE49-F238E27FC236}">
                <a16:creationId xmlns:a16="http://schemas.microsoft.com/office/drawing/2014/main" id="{509604E8-C85E-4D1E-868E-4E34EED9625C}"/>
              </a:ext>
            </a:extLst>
          </p:cNvPr>
          <p:cNvSpPr>
            <a:spLocks xmlns:a="http://schemas.openxmlformats.org/drawingml/2006/main" noGrp="1"/>
          </p:cNvSpPr>
          <p:nvPr/>
        </p:nvSpPr>
        <p:spPr>
          <a:xfrm xmlns:a="http://schemas.openxmlformats.org/drawingml/2006/main">
            <a:off x="7810500" y="273367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4555"/>
          </a:bodyPr>
          <a:lstStyle xmlns:a="http://schemas.openxmlformats.org/drawingml/2006/main"/>
          <a:p xmlns:a="http://schemas.openxmlformats.org/drawingml/2006/main">
            <a:pPr algn="l">
              <a:defRPr sz="1575" b="1">
                <a:solidFill>
                  <a:srgbClr val="176B57"/>
                </a:solidFill>
                <a:latin typeface="Helvetica Neue"/>
                <a:ea typeface="Helvetica Neue"/>
                <a:cs typeface="Helvetica Neue"/>
              </a:defRPr>
            </a:pPr>
            <a:r>
              <a:rPr sz="1575" b="1">
                <a:solidFill>
                  <a:srgbClr val="176B57"/>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16B3C5F5-9944-45E7-96A7-C291A3BCAF2D}"/>
              </a:ext>
            </a:extLst>
          </p:cNvPr>
          <p:cNvSpPr>
            <a:spLocks xmlns:a="http://schemas.openxmlformats.org/drawingml/2006/main" noGrp="1"/>
          </p:cNvSpPr>
          <p:nvPr/>
        </p:nvSpPr>
        <p:spPr>
          <a:xfrm xmlns:a="http://schemas.openxmlformats.org/drawingml/2006/main">
            <a:off x="8096250" y="27241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Enums define valid error states</a:t>
            </a:r>
          </a:p>
        </p:txBody>
      </p:sp>
      <p:sp>
        <p:nvSpPr>
          <p:cNvPr id="10" name="">
            <a:extLst xmlns:a="http://schemas.openxmlformats.org/drawingml/2006/main">
              <a:ext uri="{FF2B5EF4-FFF2-40B4-BE49-F238E27FC236}">
                <a16:creationId xmlns:a16="http://schemas.microsoft.com/office/drawing/2014/main" id="{7FFAFAFF-3CBC-4EDD-AEAB-DF9865AC7E43}"/>
              </a:ext>
            </a:extLst>
          </p:cNvPr>
          <p:cNvSpPr>
            <a:spLocks xmlns:a="http://schemas.openxmlformats.org/drawingml/2006/main" noGrp="1"/>
          </p:cNvSpPr>
          <p:nvPr/>
        </p:nvSpPr>
        <p:spPr>
          <a:xfrm xmlns:a="http://schemas.openxmlformats.org/drawingml/2006/main">
            <a:off x="7810500" y="336232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4555"/>
          </a:bodyPr>
          <a:lstStyle xmlns:a="http://schemas.openxmlformats.org/drawingml/2006/main"/>
          <a:p xmlns:a="http://schemas.openxmlformats.org/drawingml/2006/main">
            <a:pPr algn="l">
              <a:defRPr sz="1575" b="1">
                <a:solidFill>
                  <a:srgbClr val="176B57"/>
                </a:solidFill>
                <a:latin typeface="Helvetica Neue"/>
                <a:ea typeface="Helvetica Neue"/>
                <a:cs typeface="Helvetica Neue"/>
              </a:defRPr>
            </a:pPr>
            <a:r>
              <a:rPr sz="1575" b="1">
                <a:solidFill>
                  <a:srgbClr val="176B57"/>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9D08D2AD-D64E-4E8E-809D-77DB014DC2F0}"/>
              </a:ext>
            </a:extLst>
          </p:cNvPr>
          <p:cNvSpPr>
            <a:spLocks xmlns:a="http://schemas.openxmlformats.org/drawingml/2006/main" noGrp="1"/>
          </p:cNvSpPr>
          <p:nvPr/>
        </p:nvSpPr>
        <p:spPr>
          <a:xfrm xmlns:a="http://schemas.openxmlformats.org/drawingml/2006/main">
            <a:off x="8096250" y="33528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840"/>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Result forces callers to handle failure</a:t>
            </a:r>
          </a:p>
        </p:txBody>
      </p:sp>
      <p:sp>
        <p:nvSpPr>
          <p:cNvPr id="12" name="">
            <a:extLst xmlns:a="http://schemas.openxmlformats.org/drawingml/2006/main">
              <a:ext uri="{FF2B5EF4-FFF2-40B4-BE49-F238E27FC236}">
                <a16:creationId xmlns:a16="http://schemas.microsoft.com/office/drawing/2014/main" id="{706BA67E-FF42-4483-8917-B432FD6AA37E}"/>
              </a:ext>
            </a:extLst>
          </p:cNvPr>
          <p:cNvSpPr>
            <a:spLocks xmlns:a="http://schemas.openxmlformats.org/drawingml/2006/main" noGrp="1"/>
          </p:cNvSpPr>
          <p:nvPr/>
        </p:nvSpPr>
        <p:spPr>
          <a:xfrm xmlns:a="http://schemas.openxmlformats.org/drawingml/2006/main">
            <a:off x="7810500" y="410527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4555"/>
          </a:bodyPr>
          <a:lstStyle xmlns:a="http://schemas.openxmlformats.org/drawingml/2006/main"/>
          <a:p xmlns:a="http://schemas.openxmlformats.org/drawingml/2006/main">
            <a:pPr algn="l">
              <a:defRPr sz="1575" b="1">
                <a:solidFill>
                  <a:srgbClr val="176B57"/>
                </a:solidFill>
                <a:latin typeface="Helvetica Neue"/>
                <a:ea typeface="Helvetica Neue"/>
                <a:cs typeface="Helvetica Neue"/>
              </a:defRPr>
            </a:pPr>
            <a:r>
              <a:rPr sz="1575" b="1">
                <a:solidFill>
                  <a:srgbClr val="176B57"/>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542A881F-93F9-42BB-AD9A-511C9BA7AA0D}"/>
              </a:ext>
            </a:extLst>
          </p:cNvPr>
          <p:cNvSpPr>
            <a:spLocks xmlns:a="http://schemas.openxmlformats.org/drawingml/2006/main" noGrp="1"/>
          </p:cNvSpPr>
          <p:nvPr/>
        </p:nvSpPr>
        <p:spPr>
          <a:xfrm xmlns:a="http://schemas.openxmlformats.org/drawingml/2006/main">
            <a:off x="8096250" y="40957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60"/>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Ownership limits shared mutable access</a:t>
            </a:r>
          </a:p>
        </p:txBody>
      </p:sp>
      <p:sp>
        <p:nvSpPr>
          <p:cNvPr id="14" name="">
            <a:extLst xmlns:a="http://schemas.openxmlformats.org/drawingml/2006/main">
              <a:ext uri="{FF2B5EF4-FFF2-40B4-BE49-F238E27FC236}">
                <a16:creationId xmlns:a16="http://schemas.microsoft.com/office/drawing/2014/main" id="{AE4929E5-E341-4D34-B024-C842CF87A628}"/>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15" name="">
            <a:extLst xmlns:a="http://schemas.openxmlformats.org/drawingml/2006/main">
              <a:ext uri="{FF2B5EF4-FFF2-40B4-BE49-F238E27FC236}">
                <a16:creationId xmlns:a16="http://schemas.microsoft.com/office/drawing/2014/main" id="{794A8BC7-AC43-408C-BDB4-16D9AF9ED879}"/>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9</a:t>
            </a:r>
          </a:p>
        </p:txBody>
      </p:sp>
    </p:spTree>
    <p:extLst>
      <p:ext uri="{BB962C8B-B14F-4D97-AF65-F5344CB8AC3E}">
        <p14:creationId xmlns:p14="http://schemas.microsoft.com/office/powerpoint/2010/main" val="67613871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65FB4E9-9D50-45E5-B111-4D0E311F4037}"/>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Rust models and error handling</a:t>
            </a:r>
          </a:p>
        </p:txBody>
      </p:sp>
      <p:sp>
        <p:nvSpPr>
          <p:cNvPr id="2" name="">
            <a:extLst xmlns:a="http://schemas.openxmlformats.org/drawingml/2006/main">
              <a:ext uri="{FF2B5EF4-FFF2-40B4-BE49-F238E27FC236}">
                <a16:creationId xmlns:a16="http://schemas.microsoft.com/office/drawing/2014/main" id="{1EABD455-3C85-4785-8CA9-85641AFE2888}"/>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EA547A8-B205-4B26-8C04-8E7F1C679DC2}"/>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Enums and Result values make expected failures explicit</a:t>
            </a:r>
          </a:p>
        </p:txBody>
      </p:sp>
      <p:sp>
        <p:nvSpPr>
          <p:cNvPr id="4" name="">
            <a:extLst xmlns:a="http://schemas.openxmlformats.org/drawingml/2006/main">
              <a:ext uri="{FF2B5EF4-FFF2-40B4-BE49-F238E27FC236}">
                <a16:creationId xmlns:a16="http://schemas.microsoft.com/office/drawing/2014/main" id="{D9451FF7-065B-47B8-BA8E-ABC7035E6CB5}"/>
              </a:ext>
            </a:extLst>
          </p:cNvPr>
          <p:cNvSpPr>
            <a:spLocks xmlns:a="http://schemas.openxmlformats.org/drawingml/2006/main" noGrp="1"/>
          </p:cNvSpPr>
          <p:nvPr/>
        </p:nvSpPr>
        <p:spPr>
          <a:xfrm xmlns:a="http://schemas.openxmlformats.org/drawingml/2006/main">
            <a:off x="666750" y="1524000"/>
            <a:ext cx="6191250" cy="4095750"/>
          </a:xfrm>
          <a:prstGeom xmlns:a="http://schemas.openxmlformats.org/drawingml/2006/main" prst="rect">
            <a:avLst/>
          </a:prstGeom>
          <a:solidFill xmlns:a="http://schemas.openxmlformats.org/drawingml/2006/main">
            <a:srgbClr val="0F1E1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pub struct Message {</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pub message_id: u64,</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pub sender_id: String,</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pub recipient_id: String,</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pub content: String,</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pub timestamp_ms: u64,</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a:t>
            </a:r>
          </a:p>
          <a:p xmlns:a="http://schemas.openxmlformats.org/drawingml/2006/main">
            <a:r>
              <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pub enum ChatError {</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UnknownUser, SameUser, EmptyContent,</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ClockUnavailable, IdExhausted,</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a:t>
            </a:r>
          </a:p>
        </p:txBody>
      </p:sp>
      <p:sp>
        <p:nvSpPr>
          <p:cNvPr id="5" name="">
            <a:extLst xmlns:a="http://schemas.openxmlformats.org/drawingml/2006/main">
              <a:ext uri="{FF2B5EF4-FFF2-40B4-BE49-F238E27FC236}">
                <a16:creationId xmlns:a16="http://schemas.microsoft.com/office/drawing/2014/main" id="{0FA0E9DC-E542-43AC-9003-530DE4A71189}"/>
              </a:ext>
            </a:extLst>
          </p:cNvPr>
          <p:cNvSpPr>
            <a:spLocks xmlns:a="http://schemas.openxmlformats.org/drawingml/2006/main" noGrp="1"/>
          </p:cNvSpPr>
          <p:nvPr/>
        </p:nvSpPr>
        <p:spPr>
          <a:xfrm xmlns:a="http://schemas.openxmlformats.org/drawingml/2006/main">
            <a:off x="7429500" y="161925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A84C2F"/>
                </a:solidFill>
                <a:latin typeface="Helvetica Neue"/>
                <a:ea typeface="Helvetica Neue"/>
                <a:cs typeface="Helvetica Neue"/>
              </a:defRPr>
            </a:pPr>
            <a:r>
              <a:rPr sz="975" b="1">
                <a:solidFill>
                  <a:srgbClr val="A84C2F"/>
                </a:solidFill>
                <a:latin typeface="Helvetica Neue"/>
                <a:ea typeface="Helvetica Neue"/>
                <a:cs typeface="Helvetica Neue"/>
              </a:rPr>
              <a:t>RUST LANGUAGE FEATURES</a:t>
            </a:r>
          </a:p>
        </p:txBody>
      </p:sp>
      <p:sp>
        <p:nvSpPr>
          <p:cNvPr id="6" name="">
            <a:extLst xmlns:a="http://schemas.openxmlformats.org/drawingml/2006/main">
              <a:ext uri="{FF2B5EF4-FFF2-40B4-BE49-F238E27FC236}">
                <a16:creationId xmlns:a16="http://schemas.microsoft.com/office/drawing/2014/main" id="{3976D47F-F1D6-4FC0-B7B7-9359548E1E51}"/>
              </a:ext>
            </a:extLst>
          </p:cNvPr>
          <p:cNvSpPr>
            <a:spLocks xmlns:a="http://schemas.openxmlformats.org/drawingml/2006/main" noGrp="1"/>
          </p:cNvSpPr>
          <p:nvPr/>
        </p:nvSpPr>
        <p:spPr>
          <a:xfrm xmlns:a="http://schemas.openxmlformats.org/drawingml/2006/main">
            <a:off x="7429500" y="205740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CDA45C9D-3430-4C89-BD4C-9B1FE150C790}"/>
              </a:ext>
            </a:extLst>
          </p:cNvPr>
          <p:cNvSpPr>
            <a:spLocks xmlns:a="http://schemas.openxmlformats.org/drawingml/2006/main" noGrp="1"/>
          </p:cNvSpPr>
          <p:nvPr/>
        </p:nvSpPr>
        <p:spPr>
          <a:xfrm xmlns:a="http://schemas.openxmlformats.org/drawingml/2006/main">
            <a:off x="7715250" y="20478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Owned String values define clear data ownership</a:t>
            </a:r>
          </a:p>
        </p:txBody>
      </p:sp>
      <p:sp>
        <p:nvSpPr>
          <p:cNvPr id="8" name="">
            <a:extLst xmlns:a="http://schemas.openxmlformats.org/drawingml/2006/main">
              <a:ext uri="{FF2B5EF4-FFF2-40B4-BE49-F238E27FC236}">
                <a16:creationId xmlns:a16="http://schemas.microsoft.com/office/drawing/2014/main" id="{2699207A-D52E-4E07-98A6-51706D0068A1}"/>
              </a:ext>
            </a:extLst>
          </p:cNvPr>
          <p:cNvSpPr>
            <a:spLocks xmlns:a="http://schemas.openxmlformats.org/drawingml/2006/main" noGrp="1"/>
          </p:cNvSpPr>
          <p:nvPr/>
        </p:nvSpPr>
        <p:spPr>
          <a:xfrm xmlns:a="http://schemas.openxmlformats.org/drawingml/2006/main">
            <a:off x="7429500" y="272415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4EA24342-3D3C-469E-8553-B5E34A040C26}"/>
              </a:ext>
            </a:extLst>
          </p:cNvPr>
          <p:cNvSpPr>
            <a:spLocks xmlns:a="http://schemas.openxmlformats.org/drawingml/2006/main" noGrp="1"/>
          </p:cNvSpPr>
          <p:nvPr/>
        </p:nvSpPr>
        <p:spPr>
          <a:xfrm xmlns:a="http://schemas.openxmlformats.org/drawingml/2006/main">
            <a:off x="7715250" y="271462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642"/>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Error enums limit failures to known variants</a:t>
            </a:r>
          </a:p>
        </p:txBody>
      </p:sp>
      <p:sp>
        <p:nvSpPr>
          <p:cNvPr id="10" name="">
            <a:extLst xmlns:a="http://schemas.openxmlformats.org/drawingml/2006/main">
              <a:ext uri="{FF2B5EF4-FFF2-40B4-BE49-F238E27FC236}">
                <a16:creationId xmlns:a16="http://schemas.microsoft.com/office/drawing/2014/main" id="{8C12B998-F874-4D3A-8E44-8D9982531E62}"/>
              </a:ext>
            </a:extLst>
          </p:cNvPr>
          <p:cNvSpPr>
            <a:spLocks xmlns:a="http://schemas.openxmlformats.org/drawingml/2006/main" noGrp="1"/>
          </p:cNvSpPr>
          <p:nvPr/>
        </p:nvSpPr>
        <p:spPr>
          <a:xfrm xmlns:a="http://schemas.openxmlformats.org/drawingml/2006/main">
            <a:off x="7429500" y="339090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766980FB-6705-4730-9588-DC11C0198D3C}"/>
              </a:ext>
            </a:extLst>
          </p:cNvPr>
          <p:cNvSpPr>
            <a:spLocks xmlns:a="http://schemas.openxmlformats.org/drawingml/2006/main" noGrp="1"/>
          </p:cNvSpPr>
          <p:nvPr/>
        </p:nvSpPr>
        <p:spPr>
          <a:xfrm xmlns:a="http://schemas.openxmlformats.org/drawingml/2006/main">
            <a:off x="7715250" y="33813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097"/>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Pattern matching maps errors to API codes</a:t>
            </a:r>
          </a:p>
        </p:txBody>
      </p:sp>
      <p:sp>
        <p:nvSpPr>
          <p:cNvPr id="12" name="">
            <a:extLst xmlns:a="http://schemas.openxmlformats.org/drawingml/2006/main">
              <a:ext uri="{FF2B5EF4-FFF2-40B4-BE49-F238E27FC236}">
                <a16:creationId xmlns:a16="http://schemas.microsoft.com/office/drawing/2014/main" id="{6241B54A-0AAE-49E1-A180-E68F875B162D}"/>
              </a:ext>
            </a:extLst>
          </p:cNvPr>
          <p:cNvSpPr>
            <a:spLocks xmlns:a="http://schemas.openxmlformats.org/drawingml/2006/main" noGrp="1"/>
          </p:cNvSpPr>
          <p:nvPr/>
        </p:nvSpPr>
        <p:spPr>
          <a:xfrm xmlns:a="http://schemas.openxmlformats.org/drawingml/2006/main">
            <a:off x="7429500" y="405765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F9B1448C-7552-4BCE-8C24-960C5833AD19}"/>
              </a:ext>
            </a:extLst>
          </p:cNvPr>
          <p:cNvSpPr>
            <a:spLocks xmlns:a="http://schemas.openxmlformats.org/drawingml/2006/main" noGrp="1"/>
          </p:cNvSpPr>
          <p:nvPr/>
        </p:nvSpPr>
        <p:spPr>
          <a:xfrm xmlns:a="http://schemas.openxmlformats.org/drawingml/2006/main">
            <a:off x="7715250" y="404812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92"/>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Checked arithmetic prevents ID overflow</a:t>
            </a:r>
          </a:p>
        </p:txBody>
      </p:sp>
      <p:sp>
        <p:nvSpPr>
          <p:cNvPr id="14" name="">
            <a:extLst xmlns:a="http://schemas.openxmlformats.org/drawingml/2006/main">
              <a:ext uri="{FF2B5EF4-FFF2-40B4-BE49-F238E27FC236}">
                <a16:creationId xmlns:a16="http://schemas.microsoft.com/office/drawing/2014/main" id="{9FF6FEA3-7CE1-4E79-B8B7-31393DB82337}"/>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15" name="">
            <a:extLst xmlns:a="http://schemas.openxmlformats.org/drawingml/2006/main">
              <a:ext uri="{FF2B5EF4-FFF2-40B4-BE49-F238E27FC236}">
                <a16:creationId xmlns:a16="http://schemas.microsoft.com/office/drawing/2014/main" id="{DBE99DC9-82ED-4C59-A98D-538F512D8B0F}"/>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10</a:t>
            </a:r>
          </a:p>
        </p:txBody>
      </p:sp>
    </p:spTree>
    <p:extLst>
      <p:ext uri="{BB962C8B-B14F-4D97-AF65-F5344CB8AC3E}">
        <p14:creationId xmlns:p14="http://schemas.microsoft.com/office/powerpoint/2010/main" val="34301434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0C7D341-4440-4389-827C-1DCB64E3270D}"/>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Rust concurrency with Tokio</a:t>
            </a:r>
          </a:p>
        </p:txBody>
      </p:sp>
      <p:sp>
        <p:nvSpPr>
          <p:cNvPr id="2" name="">
            <a:extLst xmlns:a="http://schemas.openxmlformats.org/drawingml/2006/main">
              <a:ext uri="{FF2B5EF4-FFF2-40B4-BE49-F238E27FC236}">
                <a16:creationId xmlns:a16="http://schemas.microsoft.com/office/drawing/2014/main" id="{D67F09A8-F679-44E0-A0D9-32BD923D9894}"/>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7D8A62D-D709-49B4-920F-FC1D9ACF03ED}"/>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Three async tasks send through one channel-driven state owner</a:t>
            </a:r>
          </a:p>
        </p:txBody>
      </p:sp>
      <p:sp>
        <p:nvSpPr>
          <p:cNvPr id="4" name="">
            <a:extLst xmlns:a="http://schemas.openxmlformats.org/drawingml/2006/main">
              <a:ext uri="{FF2B5EF4-FFF2-40B4-BE49-F238E27FC236}">
                <a16:creationId xmlns:a16="http://schemas.microsoft.com/office/drawing/2014/main" id="{144C0B41-ED57-4CD2-A5F3-C7B680BA1C8D}"/>
              </a:ext>
            </a:extLst>
          </p:cNvPr>
          <p:cNvSpPr>
            <a:spLocks xmlns:a="http://schemas.openxmlformats.org/drawingml/2006/main" noGrp="1"/>
          </p:cNvSpPr>
          <p:nvPr/>
        </p:nvSpPr>
        <p:spPr>
          <a:xfrm xmlns:a="http://schemas.openxmlformats.org/drawingml/2006/main">
            <a:off x="666750" y="1571625"/>
            <a:ext cx="6667500" cy="3857625"/>
          </a:xfrm>
          <a:prstGeom xmlns:a="http://schemas.openxmlformats.org/drawingml/2006/main" prst="rect">
            <a:avLst/>
          </a:prstGeom>
          <a:solidFill xmlns:a="http://schemas.openxmlformats.org/drawingml/2006/main">
            <a:srgbClr val="0F1E1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let mut tasks = JoinSet::new();</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for (sender_id, recipient_id, name) in users {</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    let client = handle.clone();</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    tasks.spawn(async move {</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        for number in 1..=2 {</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            client.send(request).await?;</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        }</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    });</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while let Some(result) = tasks.join_next().await { ... }</a:t>
            </a:r>
          </a:p>
        </p:txBody>
      </p:sp>
      <p:sp>
        <p:nvSpPr>
          <p:cNvPr id="5" name="">
            <a:extLst xmlns:a="http://schemas.openxmlformats.org/drawingml/2006/main">
              <a:ext uri="{FF2B5EF4-FFF2-40B4-BE49-F238E27FC236}">
                <a16:creationId xmlns:a16="http://schemas.microsoft.com/office/drawing/2014/main" id="{2225CF07-12E8-4A93-BA21-7D56B5F7E234}"/>
              </a:ext>
            </a:extLst>
          </p:cNvPr>
          <p:cNvSpPr>
            <a:spLocks xmlns:a="http://schemas.openxmlformats.org/drawingml/2006/main" noGrp="1"/>
          </p:cNvSpPr>
          <p:nvPr/>
        </p:nvSpPr>
        <p:spPr>
          <a:xfrm xmlns:a="http://schemas.openxmlformats.org/drawingml/2006/main">
            <a:off x="7858125" y="16668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A84C2F"/>
                </a:solidFill>
                <a:latin typeface="Helvetica Neue"/>
                <a:ea typeface="Helvetica Neue"/>
                <a:cs typeface="Helvetica Neue"/>
              </a:defRPr>
            </a:pPr>
            <a:r>
              <a:rPr sz="975" b="1">
                <a:solidFill>
                  <a:srgbClr val="A84C2F"/>
                </a:solidFill>
                <a:latin typeface="Helvetica Neue"/>
                <a:ea typeface="Helvetica Neue"/>
                <a:cs typeface="Helvetica Neue"/>
              </a:rPr>
              <a:t>EXECUTION MODEL</a:t>
            </a:r>
          </a:p>
        </p:txBody>
      </p:sp>
      <p:sp>
        <p:nvSpPr>
          <p:cNvPr id="6" name="">
            <a:extLst xmlns:a="http://schemas.openxmlformats.org/drawingml/2006/main">
              <a:ext uri="{FF2B5EF4-FFF2-40B4-BE49-F238E27FC236}">
                <a16:creationId xmlns:a16="http://schemas.microsoft.com/office/drawing/2014/main" id="{597ED74D-72F5-46B7-AEB1-63611736573C}"/>
              </a:ext>
            </a:extLst>
          </p:cNvPr>
          <p:cNvSpPr>
            <a:spLocks xmlns:a="http://schemas.openxmlformats.org/drawingml/2006/main" noGrp="1"/>
          </p:cNvSpPr>
          <p:nvPr/>
        </p:nvSpPr>
        <p:spPr>
          <a:xfrm xmlns:a="http://schemas.openxmlformats.org/drawingml/2006/main">
            <a:off x="7858125" y="210502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28DB0614-357D-4D20-9BBE-ACFA9E161215}"/>
              </a:ext>
            </a:extLst>
          </p:cNvPr>
          <p:cNvSpPr>
            <a:spLocks xmlns:a="http://schemas.openxmlformats.org/drawingml/2006/main" noGrp="1"/>
          </p:cNvSpPr>
          <p:nvPr/>
        </p:nvSpPr>
        <p:spPr>
          <a:xfrm xmlns:a="http://schemas.openxmlformats.org/drawingml/2006/main">
            <a:off x="8143875" y="20955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Tokio schedules each simulated user independently</a:t>
            </a:r>
          </a:p>
        </p:txBody>
      </p:sp>
      <p:sp>
        <p:nvSpPr>
          <p:cNvPr id="8" name="">
            <a:extLst xmlns:a="http://schemas.openxmlformats.org/drawingml/2006/main">
              <a:ext uri="{FF2B5EF4-FFF2-40B4-BE49-F238E27FC236}">
                <a16:creationId xmlns:a16="http://schemas.microsoft.com/office/drawing/2014/main" id="{B78F6E01-CDD8-4BA8-BDD6-35062345F053}"/>
              </a:ext>
            </a:extLst>
          </p:cNvPr>
          <p:cNvSpPr>
            <a:spLocks xmlns:a="http://schemas.openxmlformats.org/drawingml/2006/main" noGrp="1"/>
          </p:cNvSpPr>
          <p:nvPr/>
        </p:nvSpPr>
        <p:spPr>
          <a:xfrm xmlns:a="http://schemas.openxmlformats.org/drawingml/2006/main">
            <a:off x="7858125" y="286702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D3567DFD-B08A-4D76-A564-B023B39526C3}"/>
              </a:ext>
            </a:extLst>
          </p:cNvPr>
          <p:cNvSpPr>
            <a:spLocks xmlns:a="http://schemas.openxmlformats.org/drawingml/2006/main" noGrp="1"/>
          </p:cNvSpPr>
          <p:nvPr/>
        </p:nvSpPr>
        <p:spPr>
          <a:xfrm xmlns:a="http://schemas.openxmlformats.org/drawingml/2006/main">
            <a:off x="8143875" y="28575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A cloned handle sends commands to one worker</a:t>
            </a:r>
          </a:p>
        </p:txBody>
      </p:sp>
      <p:sp>
        <p:nvSpPr>
          <p:cNvPr id="10" name="">
            <a:extLst xmlns:a="http://schemas.openxmlformats.org/drawingml/2006/main">
              <a:ext uri="{FF2B5EF4-FFF2-40B4-BE49-F238E27FC236}">
                <a16:creationId xmlns:a16="http://schemas.microsoft.com/office/drawing/2014/main" id="{94885BEC-3678-4BF9-A428-5FD87F86015D}"/>
              </a:ext>
            </a:extLst>
          </p:cNvPr>
          <p:cNvSpPr>
            <a:spLocks xmlns:a="http://schemas.openxmlformats.org/drawingml/2006/main" noGrp="1"/>
          </p:cNvSpPr>
          <p:nvPr/>
        </p:nvSpPr>
        <p:spPr>
          <a:xfrm xmlns:a="http://schemas.openxmlformats.org/drawingml/2006/main">
            <a:off x="7858125" y="362902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656F49FB-2A2C-46F3-96C2-79B77B22E59F}"/>
              </a:ext>
            </a:extLst>
          </p:cNvPr>
          <p:cNvSpPr>
            <a:spLocks xmlns:a="http://schemas.openxmlformats.org/drawingml/2006/main" noGrp="1"/>
          </p:cNvSpPr>
          <p:nvPr/>
        </p:nvSpPr>
        <p:spPr>
          <a:xfrm xmlns:a="http://schemas.openxmlformats.org/drawingml/2006/main">
            <a:off x="8143875" y="36195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The worker assigns IDs and updates history</a:t>
            </a:r>
          </a:p>
        </p:txBody>
      </p:sp>
      <p:sp>
        <p:nvSpPr>
          <p:cNvPr id="12" name="">
            <a:extLst xmlns:a="http://schemas.openxmlformats.org/drawingml/2006/main">
              <a:ext uri="{FF2B5EF4-FFF2-40B4-BE49-F238E27FC236}">
                <a16:creationId xmlns:a16="http://schemas.microsoft.com/office/drawing/2014/main" id="{67686D57-19FC-4BD3-9380-87A070D81A48}"/>
              </a:ext>
            </a:extLst>
          </p:cNvPr>
          <p:cNvSpPr>
            <a:spLocks xmlns:a="http://schemas.openxmlformats.org/drawingml/2006/main" noGrp="1"/>
          </p:cNvSpPr>
          <p:nvPr/>
        </p:nvSpPr>
        <p:spPr>
          <a:xfrm xmlns:a="http://schemas.openxmlformats.org/drawingml/2006/main">
            <a:off x="7858125" y="439102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176B57"/>
                </a:solidFill>
                <a:latin typeface="Helvetica Neue"/>
                <a:ea typeface="Helvetica Neue"/>
                <a:cs typeface="Helvetica Neue"/>
              </a:defRPr>
            </a:pPr>
            <a:r>
              <a:rPr sz="1500" b="1">
                <a:solidFill>
                  <a:srgbClr val="176B57"/>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EADEF7FD-ABFE-4C09-BF53-5A1477C1FC53}"/>
              </a:ext>
            </a:extLst>
          </p:cNvPr>
          <p:cNvSpPr>
            <a:spLocks xmlns:a="http://schemas.openxmlformats.org/drawingml/2006/main" noGrp="1"/>
          </p:cNvSpPr>
          <p:nvPr/>
        </p:nvSpPr>
        <p:spPr>
          <a:xfrm xmlns:a="http://schemas.openxmlformats.org/drawingml/2006/main">
            <a:off x="8143875" y="43815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002"/>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Results are sorted by ID for stable output</a:t>
            </a:r>
          </a:p>
        </p:txBody>
      </p:sp>
      <p:sp>
        <p:nvSpPr>
          <p:cNvPr id="14" name="">
            <a:extLst xmlns:a="http://schemas.openxmlformats.org/drawingml/2006/main">
              <a:ext uri="{FF2B5EF4-FFF2-40B4-BE49-F238E27FC236}">
                <a16:creationId xmlns:a16="http://schemas.microsoft.com/office/drawing/2014/main" id="{3B327F2F-AADD-4DE5-BC12-2202FDEDE4A2}"/>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15" name="">
            <a:extLst xmlns:a="http://schemas.openxmlformats.org/drawingml/2006/main">
              <a:ext uri="{FF2B5EF4-FFF2-40B4-BE49-F238E27FC236}">
                <a16:creationId xmlns:a16="http://schemas.microsoft.com/office/drawing/2014/main" id="{E569E1DD-14D4-4908-B20E-F560B083A595}"/>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11</a:t>
            </a:r>
          </a:p>
        </p:txBody>
      </p:sp>
    </p:spTree>
    <p:extLst>
      <p:ext uri="{BB962C8B-B14F-4D97-AF65-F5344CB8AC3E}">
        <p14:creationId xmlns:p14="http://schemas.microsoft.com/office/powerpoint/2010/main" val="15810766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1A3A6CE-4134-4DF5-8E29-A0A8F3C74FB5}"/>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Rust testing and verification</a:t>
            </a:r>
          </a:p>
        </p:txBody>
      </p:sp>
      <p:sp>
        <p:nvSpPr>
          <p:cNvPr id="2" name="">
            <a:extLst xmlns:a="http://schemas.openxmlformats.org/drawingml/2006/main">
              <a:ext uri="{FF2B5EF4-FFF2-40B4-BE49-F238E27FC236}">
                <a16:creationId xmlns:a16="http://schemas.microsoft.com/office/drawing/2014/main" id="{7F95B744-DB60-4009-BE11-53BF78245A54}"/>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F124DF7-FF7E-4757-B3A8-4A882C4F7097}"/>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Tests cover service behavior, HTTP responses, worker ownership, and overlapping simulations</a:t>
            </a:r>
          </a:p>
        </p:txBody>
      </p:sp>
      <p:sp>
        <p:nvSpPr>
          <p:cNvPr id="4" name="">
            <a:extLst xmlns:a="http://schemas.openxmlformats.org/drawingml/2006/main">
              <a:ext uri="{FF2B5EF4-FFF2-40B4-BE49-F238E27FC236}">
                <a16:creationId xmlns:a16="http://schemas.microsoft.com/office/drawing/2014/main" id="{CFCA6ED4-DB0D-4249-B4EC-9886D455AA1C}"/>
              </a:ext>
            </a:extLst>
          </p:cNvPr>
          <p:cNvSpPr>
            <a:spLocks xmlns:a="http://schemas.openxmlformats.org/drawingml/2006/main" noGrp="1"/>
          </p:cNvSpPr>
          <p:nvPr/>
        </p:nvSpPr>
        <p:spPr>
          <a:xfrm xmlns:a="http://schemas.openxmlformats.org/drawingml/2006/main">
            <a:off x="857250" y="1666875"/>
            <a:ext cx="7048500" cy="3143250"/>
          </a:xfrm>
          <a:prstGeom xmlns:a="http://schemas.openxmlformats.org/drawingml/2006/main" prst="rect">
            <a:avLst/>
          </a:prstGeom>
          <a:solidFill xmlns:a="http://schemas.openxmlformats.org/drawingml/2006/main">
            <a:srgbClr val="0F1E1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cargo fmt --manifest-path rust-backend/Cargo.toml -- --check</a:t>
            </a:r>
          </a:p>
          <a:p xmlns:a="http://schemas.openxmlformats.org/drawingml/2006/main">
            <a:r>
              <a:t/>
            </a:r>
          </a:p>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cargo clippy --manifest-path rust-backend/Cargo.toml</a:t>
            </a:r>
          </a:p>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    --all-targets -- -D warnings</a:t>
            </a:r>
          </a:p>
          <a:p xmlns:a="http://schemas.openxmlformats.org/drawingml/2006/main">
            <a:r>
              <a:t/>
            </a:r>
          </a:p>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cargo test --manifest-path rust-backend/Cargo.toml --locked</a:t>
            </a:r>
          </a:p>
        </p:txBody>
      </p:sp>
      <p:sp>
        <p:nvSpPr>
          <p:cNvPr id="5" name="">
            <a:extLst xmlns:a="http://schemas.openxmlformats.org/drawingml/2006/main">
              <a:ext uri="{FF2B5EF4-FFF2-40B4-BE49-F238E27FC236}">
                <a16:creationId xmlns:a16="http://schemas.microsoft.com/office/drawing/2014/main" id="{4243192D-D068-4788-B886-206AE9BBCE8F}"/>
              </a:ext>
            </a:extLst>
          </p:cNvPr>
          <p:cNvSpPr>
            <a:spLocks xmlns:a="http://schemas.openxmlformats.org/drawingml/2006/main" noGrp="1"/>
          </p:cNvSpPr>
          <p:nvPr/>
        </p:nvSpPr>
        <p:spPr>
          <a:xfrm xmlns:a="http://schemas.openxmlformats.org/drawingml/2006/main">
            <a:off x="8715375" y="1857375"/>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800" b="1">
                <a:solidFill>
                  <a:srgbClr val="A84C2F"/>
                </a:solidFill>
                <a:latin typeface="Helvetica Neue"/>
                <a:ea typeface="Helvetica Neue"/>
                <a:cs typeface="Helvetica Neue"/>
              </a:defRPr>
            </a:pPr>
            <a:r>
              <a:rPr sz="4800" b="1">
                <a:solidFill>
                  <a:srgbClr val="A84C2F"/>
                </a:solidFill>
                <a:latin typeface="Helvetica Neue"/>
                <a:ea typeface="Helvetica Neue"/>
                <a:cs typeface="Helvetica Neue"/>
              </a:rPr>
              <a:t>22</a:t>
            </a:r>
          </a:p>
        </p:txBody>
      </p:sp>
      <p:sp>
        <p:nvSpPr>
          <p:cNvPr id="6" name="">
            <a:extLst xmlns:a="http://schemas.openxmlformats.org/drawingml/2006/main">
              <a:ext uri="{FF2B5EF4-FFF2-40B4-BE49-F238E27FC236}">
                <a16:creationId xmlns:a16="http://schemas.microsoft.com/office/drawing/2014/main" id="{0441E609-4FE8-4F02-9C1D-E806469D3A95}"/>
              </a:ext>
            </a:extLst>
          </p:cNvPr>
          <p:cNvSpPr>
            <a:spLocks xmlns:a="http://schemas.openxmlformats.org/drawingml/2006/main" noGrp="1"/>
          </p:cNvSpPr>
          <p:nvPr/>
        </p:nvSpPr>
        <p:spPr>
          <a:xfrm xmlns:a="http://schemas.openxmlformats.org/drawingml/2006/main">
            <a:off x="8715375" y="28575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72A32"/>
                </a:solidFill>
                <a:latin typeface="Helvetica Neue"/>
                <a:ea typeface="Helvetica Neue"/>
                <a:cs typeface="Helvetica Neue"/>
              </a:defRPr>
            </a:pPr>
            <a:r>
              <a:rPr sz="1800" b="1">
                <a:solidFill>
                  <a:srgbClr val="172A32"/>
                </a:solidFill>
                <a:latin typeface="Helvetica Neue"/>
                <a:ea typeface="Helvetica Neue"/>
                <a:cs typeface="Helvetica Neue"/>
              </a:rPr>
              <a:t>tests passed</a:t>
            </a:r>
          </a:p>
        </p:txBody>
      </p:sp>
      <p:sp>
        <p:nvSpPr>
          <p:cNvPr id="7" name="">
            <a:extLst xmlns:a="http://schemas.openxmlformats.org/drawingml/2006/main">
              <a:ext uri="{FF2B5EF4-FFF2-40B4-BE49-F238E27FC236}">
                <a16:creationId xmlns:a16="http://schemas.microsoft.com/office/drawing/2014/main" id="{AD46D956-AD5F-4508-A18C-09CA7470AD40}"/>
              </a:ext>
            </a:extLst>
          </p:cNvPr>
          <p:cNvSpPr>
            <a:spLocks xmlns:a="http://schemas.openxmlformats.org/drawingml/2006/main" noGrp="1"/>
          </p:cNvSpPr>
          <p:nvPr/>
        </p:nvSpPr>
        <p:spPr>
          <a:xfrm xmlns:a="http://schemas.openxmlformats.org/drawingml/2006/main">
            <a:off x="8096250" y="372427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350"/>
          </a:bodyPr>
          <a:lstStyle xmlns:a="http://schemas.openxmlformats.org/drawingml/2006/main"/>
          <a:p xmlns:a="http://schemas.openxmlformats.org/drawingml/2006/main">
            <a:pPr algn="l">
              <a:defRPr sz="1425" b="1">
                <a:solidFill>
                  <a:srgbClr val="176B57"/>
                </a:solidFill>
                <a:latin typeface="Helvetica Neue"/>
                <a:ea typeface="Helvetica Neue"/>
                <a:cs typeface="Helvetica Neue"/>
              </a:defRPr>
            </a:pPr>
            <a:r>
              <a:rPr sz="1425" b="1">
                <a:solidFill>
                  <a:srgbClr val="176B57"/>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6A4CA5F8-E051-400A-89CE-7346782BB2D4}"/>
              </a:ext>
            </a:extLst>
          </p:cNvPr>
          <p:cNvSpPr>
            <a:spLocks xmlns:a="http://schemas.openxmlformats.org/drawingml/2006/main" noGrp="1"/>
          </p:cNvSpPr>
          <p:nvPr/>
        </p:nvSpPr>
        <p:spPr>
          <a:xfrm xmlns:a="http://schemas.openxmlformats.org/drawingml/2006/main">
            <a:off x="8382000" y="37147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211"/>
          </a:bodyPr>
          <a:lstStyle xmlns:a="http://schemas.openxmlformats.org/drawingml/2006/main"/>
          <a:p xmlns:a="http://schemas.openxmlformats.org/drawingml/2006/main">
            <a:pPr algn="l">
              <a:defRPr sz="1425" b="0">
                <a:solidFill>
                  <a:srgbClr val="172A32"/>
                </a:solidFill>
                <a:latin typeface="Helvetica Neue"/>
                <a:ea typeface="Helvetica Neue"/>
                <a:cs typeface="Helvetica Neue"/>
              </a:defRPr>
            </a:pPr>
            <a:r>
              <a:rPr sz="1425" b="0">
                <a:solidFill>
                  <a:srgbClr val="172A32"/>
                </a:solidFill>
                <a:latin typeface="Helvetica Neue"/>
                <a:ea typeface="Helvetica Neue"/>
                <a:cs typeface="Helvetica Neue"/>
              </a:rPr>
              <a:t>Rejected messages preserve history and IDs</a:t>
            </a:r>
          </a:p>
        </p:txBody>
      </p:sp>
      <p:sp>
        <p:nvSpPr>
          <p:cNvPr id="9" name="">
            <a:extLst xmlns:a="http://schemas.openxmlformats.org/drawingml/2006/main">
              <a:ext uri="{FF2B5EF4-FFF2-40B4-BE49-F238E27FC236}">
                <a16:creationId xmlns:a16="http://schemas.microsoft.com/office/drawing/2014/main" id="{898E36FB-5AF4-452E-82BF-7EF28974D391}"/>
              </a:ext>
            </a:extLst>
          </p:cNvPr>
          <p:cNvSpPr>
            <a:spLocks xmlns:a="http://schemas.openxmlformats.org/drawingml/2006/main" noGrp="1"/>
          </p:cNvSpPr>
          <p:nvPr/>
        </p:nvSpPr>
        <p:spPr>
          <a:xfrm xmlns:a="http://schemas.openxmlformats.org/drawingml/2006/main">
            <a:off x="8096250" y="439102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350"/>
          </a:bodyPr>
          <a:lstStyle xmlns:a="http://schemas.openxmlformats.org/drawingml/2006/main"/>
          <a:p xmlns:a="http://schemas.openxmlformats.org/drawingml/2006/main">
            <a:pPr algn="l">
              <a:defRPr sz="1425" b="1">
                <a:solidFill>
                  <a:srgbClr val="176B57"/>
                </a:solidFill>
                <a:latin typeface="Helvetica Neue"/>
                <a:ea typeface="Helvetica Neue"/>
                <a:cs typeface="Helvetica Neue"/>
              </a:defRPr>
            </a:pPr>
            <a:r>
              <a:rPr sz="1425" b="1">
                <a:solidFill>
                  <a:srgbClr val="176B57"/>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6FC54E30-C9F1-4136-BF50-3B13CAD3CF18}"/>
              </a:ext>
            </a:extLst>
          </p:cNvPr>
          <p:cNvSpPr>
            <a:spLocks xmlns:a="http://schemas.openxmlformats.org/drawingml/2006/main" noGrp="1"/>
          </p:cNvSpPr>
          <p:nvPr/>
        </p:nvSpPr>
        <p:spPr>
          <a:xfrm xmlns:a="http://schemas.openxmlformats.org/drawingml/2006/main">
            <a:off x="8382000" y="43815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211"/>
          </a:bodyPr>
          <a:lstStyle xmlns:a="http://schemas.openxmlformats.org/drawingml/2006/main"/>
          <a:p xmlns:a="http://schemas.openxmlformats.org/drawingml/2006/main">
            <a:pPr algn="l">
              <a:defRPr sz="1425" b="0">
                <a:solidFill>
                  <a:srgbClr val="172A32"/>
                </a:solidFill>
                <a:latin typeface="Helvetica Neue"/>
                <a:ea typeface="Helvetica Neue"/>
                <a:cs typeface="Helvetica Neue"/>
              </a:defRPr>
            </a:pPr>
            <a:r>
              <a:rPr sz="1425" b="0">
                <a:solidFill>
                  <a:srgbClr val="172A32"/>
                </a:solidFill>
                <a:latin typeface="Helvetica Neue"/>
                <a:ea typeface="Helvetica Neue"/>
                <a:cs typeface="Helvetica Neue"/>
              </a:rPr>
              <a:t>Concurrent runs produce ordered unique IDs</a:t>
            </a:r>
          </a:p>
        </p:txBody>
      </p:sp>
      <p:sp>
        <p:nvSpPr>
          <p:cNvPr id="11" name="">
            <a:extLst xmlns:a="http://schemas.openxmlformats.org/drawingml/2006/main">
              <a:ext uri="{FF2B5EF4-FFF2-40B4-BE49-F238E27FC236}">
                <a16:creationId xmlns:a16="http://schemas.microsoft.com/office/drawing/2014/main" id="{F7944B38-57DC-4F62-9FE5-D78E12BA5B63}"/>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12" name="">
            <a:extLst xmlns:a="http://schemas.openxmlformats.org/drawingml/2006/main">
              <a:ext uri="{FF2B5EF4-FFF2-40B4-BE49-F238E27FC236}">
                <a16:creationId xmlns:a16="http://schemas.microsoft.com/office/drawing/2014/main" id="{45AA368F-7B7D-4E83-A74D-0DAF1F9517F8}"/>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12</a:t>
            </a:r>
          </a:p>
        </p:txBody>
      </p:sp>
    </p:spTree>
    <p:extLst>
      <p:ext uri="{BB962C8B-B14F-4D97-AF65-F5344CB8AC3E}">
        <p14:creationId xmlns:p14="http://schemas.microsoft.com/office/powerpoint/2010/main" val="2617539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2B9BEC2-79E8-4B73-9604-990FA8AD2B47}"/>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Go backend design</a:t>
            </a:r>
          </a:p>
        </p:txBody>
      </p:sp>
      <p:sp>
        <p:nvSpPr>
          <p:cNvPr id="2" name="">
            <a:extLst xmlns:a="http://schemas.openxmlformats.org/drawingml/2006/main">
              <a:ext uri="{FF2B5EF4-FFF2-40B4-BE49-F238E27FC236}">
                <a16:creationId xmlns:a16="http://schemas.microsoft.com/office/drawing/2014/main" id="{5E46EFEA-5D53-4049-8F7B-EA63EA2F9D6A}"/>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1D00DB-9442-49EF-8612-03DBD442EB8D}"/>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A mutex protects shared slices and IDs while methods return explicit errors</a:t>
            </a:r>
          </a:p>
        </p:txBody>
      </p:sp>
      <p:sp>
        <p:nvSpPr>
          <p:cNvPr id="4" name="">
            <a:extLst xmlns:a="http://schemas.openxmlformats.org/drawingml/2006/main">
              <a:ext uri="{FF2B5EF4-FFF2-40B4-BE49-F238E27FC236}">
                <a16:creationId xmlns:a16="http://schemas.microsoft.com/office/drawing/2014/main" id="{71ADE792-94B5-4AF7-A81E-F80DCD2F02E9}"/>
              </a:ext>
            </a:extLst>
          </p:cNvPr>
          <p:cNvSpPr>
            <a:spLocks xmlns:a="http://schemas.openxmlformats.org/drawingml/2006/main" noGrp="1"/>
          </p:cNvSpPr>
          <p:nvPr/>
        </p:nvSpPr>
        <p:spPr>
          <a:xfrm xmlns:a="http://schemas.openxmlformats.org/drawingml/2006/main">
            <a:off x="666750" y="1571625"/>
            <a:ext cx="6572250" cy="3714750"/>
          </a:xfrm>
          <a:prstGeom xmlns:a="http://schemas.openxmlformats.org/drawingml/2006/main" prst="rect">
            <a:avLst/>
          </a:prstGeom>
          <a:solidFill xmlns:a="http://schemas.openxmlformats.org/drawingml/2006/main">
            <a:srgbClr val="0F1E1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type ChatService struct {</a:t>
            </a:r>
          </a:p>
          <a:p xmlns:a="http://schemas.openxmlformats.org/drawingml/2006/main">
            <a:pPr algn="l">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    users map[string]User</a:t>
            </a:r>
          </a:p>
          <a:p xmlns:a="http://schemas.openxmlformats.org/drawingml/2006/main">
            <a:pPr algn="l">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    messages []Message</a:t>
            </a:r>
          </a:p>
          <a:p xmlns:a="http://schemas.openxmlformats.org/drawingml/2006/main">
            <a:pPr algn="l">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    nextMessageID uint64</a:t>
            </a:r>
          </a:p>
          <a:p xmlns:a="http://schemas.openxmlformats.org/drawingml/2006/main">
            <a:pPr algn="l">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    mu sync.RWMutex</a:t>
            </a:r>
          </a:p>
          <a:p xmlns:a="http://schemas.openxmlformats.org/drawingml/2006/main">
            <a:pPr algn="l">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a:t>
            </a:r>
          </a:p>
          <a:p xmlns:a="http://schemas.openxmlformats.org/drawingml/2006/main">
            <a:r>
              <a:t/>
            </a:r>
          </a:p>
          <a:p xmlns:a="http://schemas.openxmlformats.org/drawingml/2006/main">
            <a:pPr algn="l">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func (s *ChatService) SendMessage(...)</a:t>
            </a:r>
          </a:p>
          <a:p xmlns:a="http://schemas.openxmlformats.org/drawingml/2006/main">
            <a:pPr algn="l">
              <a:defRPr sz="1425" b="0">
                <a:solidFill>
                  <a:srgbClr val="FFFFFF"/>
                </a:solidFill>
                <a:latin typeface="Helvetica Neue"/>
                <a:ea typeface="Helvetica Neue"/>
                <a:cs typeface="Helvetica Neue"/>
              </a:defRPr>
            </a:pPr>
            <a:r>
              <a:rPr sz="1425" b="0">
                <a:solidFill>
                  <a:srgbClr val="FFFFFF"/>
                </a:solidFill>
                <a:latin typeface="Helvetica Neue"/>
                <a:ea typeface="Helvetica Neue"/>
                <a:cs typeface="Helvetica Neue"/>
              </a:rPr>
              <a:t>    (Message, error)</a:t>
            </a:r>
          </a:p>
        </p:txBody>
      </p:sp>
      <p:sp>
        <p:nvSpPr>
          <p:cNvPr id="5" name="">
            <a:extLst xmlns:a="http://schemas.openxmlformats.org/drawingml/2006/main">
              <a:ext uri="{FF2B5EF4-FFF2-40B4-BE49-F238E27FC236}">
                <a16:creationId xmlns:a16="http://schemas.microsoft.com/office/drawing/2014/main" id="{FBF16B82-0642-46AB-A140-402AAD255C52}"/>
              </a:ext>
            </a:extLst>
          </p:cNvPr>
          <p:cNvSpPr>
            <a:spLocks xmlns:a="http://schemas.openxmlformats.org/drawingml/2006/main" noGrp="1"/>
          </p:cNvSpPr>
          <p:nvPr/>
        </p:nvSpPr>
        <p:spPr>
          <a:xfrm xmlns:a="http://schemas.openxmlformats.org/drawingml/2006/main">
            <a:off x="7810500" y="166687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87EA4"/>
                </a:solidFill>
                <a:latin typeface="Helvetica Neue"/>
                <a:ea typeface="Helvetica Neue"/>
                <a:cs typeface="Helvetica Neue"/>
              </a:defRPr>
            </a:pPr>
            <a:r>
              <a:rPr sz="975" b="1">
                <a:solidFill>
                  <a:srgbClr val="087EA4"/>
                </a:solidFill>
                <a:latin typeface="Helvetica Neue"/>
                <a:ea typeface="Helvetica Neue"/>
                <a:cs typeface="Helvetica Neue"/>
              </a:rPr>
              <a:t>GO LANGUAGE FEATURES</a:t>
            </a:r>
          </a:p>
        </p:txBody>
      </p:sp>
      <p:sp>
        <p:nvSpPr>
          <p:cNvPr id="6" name="">
            <a:extLst xmlns:a="http://schemas.openxmlformats.org/drawingml/2006/main">
              <a:ext uri="{FF2B5EF4-FFF2-40B4-BE49-F238E27FC236}">
                <a16:creationId xmlns:a16="http://schemas.microsoft.com/office/drawing/2014/main" id="{748FA83B-5718-4D63-A2E3-709B326486EC}"/>
              </a:ext>
            </a:extLst>
          </p:cNvPr>
          <p:cNvSpPr>
            <a:spLocks xmlns:a="http://schemas.openxmlformats.org/drawingml/2006/main" noGrp="1"/>
          </p:cNvSpPr>
          <p:nvPr/>
        </p:nvSpPr>
        <p:spPr>
          <a:xfrm xmlns:a="http://schemas.openxmlformats.org/drawingml/2006/main">
            <a:off x="7810500" y="210502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4555"/>
          </a:bodyPr>
          <a:lstStyle xmlns:a="http://schemas.openxmlformats.org/drawingml/2006/main"/>
          <a:p xmlns:a="http://schemas.openxmlformats.org/drawingml/2006/main">
            <a:pPr algn="l">
              <a:defRPr sz="1575" b="1">
                <a:solidFill>
                  <a:srgbClr val="087EA4"/>
                </a:solidFill>
                <a:latin typeface="Helvetica Neue"/>
                <a:ea typeface="Helvetica Neue"/>
                <a:cs typeface="Helvetica Neue"/>
              </a:defRPr>
            </a:pPr>
            <a:r>
              <a:rPr sz="1575" b="1">
                <a:solidFill>
                  <a:srgbClr val="087EA4"/>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5C744028-FA4A-4192-AAFE-FB0B1026E0B0}"/>
              </a:ext>
            </a:extLst>
          </p:cNvPr>
          <p:cNvSpPr>
            <a:spLocks xmlns:a="http://schemas.openxmlformats.org/drawingml/2006/main" noGrp="1"/>
          </p:cNvSpPr>
          <p:nvPr/>
        </p:nvSpPr>
        <p:spPr>
          <a:xfrm xmlns:a="http://schemas.openxmlformats.org/drawingml/2006/main">
            <a:off x="8096250" y="20955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190"/>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Structs and slices keep the data model direct</a:t>
            </a:r>
          </a:p>
        </p:txBody>
      </p:sp>
      <p:sp>
        <p:nvSpPr>
          <p:cNvPr id="8" name="">
            <a:extLst xmlns:a="http://schemas.openxmlformats.org/drawingml/2006/main">
              <a:ext uri="{FF2B5EF4-FFF2-40B4-BE49-F238E27FC236}">
                <a16:creationId xmlns:a16="http://schemas.microsoft.com/office/drawing/2014/main" id="{76521C67-2E80-45B6-9F66-C34C457C4550}"/>
              </a:ext>
            </a:extLst>
          </p:cNvPr>
          <p:cNvSpPr>
            <a:spLocks xmlns:a="http://schemas.openxmlformats.org/drawingml/2006/main" noGrp="1"/>
          </p:cNvSpPr>
          <p:nvPr/>
        </p:nvSpPr>
        <p:spPr>
          <a:xfrm xmlns:a="http://schemas.openxmlformats.org/drawingml/2006/main">
            <a:off x="7810500" y="281940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4555"/>
          </a:bodyPr>
          <a:lstStyle xmlns:a="http://schemas.openxmlformats.org/drawingml/2006/main"/>
          <a:p xmlns:a="http://schemas.openxmlformats.org/drawingml/2006/main">
            <a:pPr algn="l">
              <a:defRPr sz="1575" b="1">
                <a:solidFill>
                  <a:srgbClr val="087EA4"/>
                </a:solidFill>
                <a:latin typeface="Helvetica Neue"/>
                <a:ea typeface="Helvetica Neue"/>
                <a:cs typeface="Helvetica Neue"/>
              </a:defRPr>
            </a:pPr>
            <a:r>
              <a:rPr sz="1575" b="1">
                <a:solidFill>
                  <a:srgbClr val="087EA4"/>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C830A839-AB7D-498C-B5A7-2314115559CC}"/>
              </a:ext>
            </a:extLst>
          </p:cNvPr>
          <p:cNvSpPr>
            <a:spLocks xmlns:a="http://schemas.openxmlformats.org/drawingml/2006/main" noGrp="1"/>
          </p:cNvSpPr>
          <p:nvPr/>
        </p:nvSpPr>
        <p:spPr>
          <a:xfrm xmlns:a="http://schemas.openxmlformats.org/drawingml/2006/main">
            <a:off x="8096250" y="28098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536"/>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RWMutex separates reads from writes</a:t>
            </a:r>
          </a:p>
        </p:txBody>
      </p:sp>
      <p:sp>
        <p:nvSpPr>
          <p:cNvPr id="10" name="">
            <a:extLst xmlns:a="http://schemas.openxmlformats.org/drawingml/2006/main">
              <a:ext uri="{FF2B5EF4-FFF2-40B4-BE49-F238E27FC236}">
                <a16:creationId xmlns:a16="http://schemas.microsoft.com/office/drawing/2014/main" id="{9789F9D5-4699-4DBE-A0AF-EEEC1E3F062A}"/>
              </a:ext>
            </a:extLst>
          </p:cNvPr>
          <p:cNvSpPr>
            <a:spLocks xmlns:a="http://schemas.openxmlformats.org/drawingml/2006/main" noGrp="1"/>
          </p:cNvSpPr>
          <p:nvPr/>
        </p:nvSpPr>
        <p:spPr>
          <a:xfrm xmlns:a="http://schemas.openxmlformats.org/drawingml/2006/main">
            <a:off x="7810500" y="353377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4555"/>
          </a:bodyPr>
          <a:lstStyle xmlns:a="http://schemas.openxmlformats.org/drawingml/2006/main"/>
          <a:p xmlns:a="http://schemas.openxmlformats.org/drawingml/2006/main">
            <a:pPr algn="l">
              <a:defRPr sz="1575" b="1">
                <a:solidFill>
                  <a:srgbClr val="087EA4"/>
                </a:solidFill>
                <a:latin typeface="Helvetica Neue"/>
                <a:ea typeface="Helvetica Neue"/>
                <a:cs typeface="Helvetica Neue"/>
              </a:defRPr>
            </a:pPr>
            <a:r>
              <a:rPr sz="1575" b="1">
                <a:solidFill>
                  <a:srgbClr val="087EA4"/>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75C5C16B-1A0D-474A-8E33-ED6489AFE500}"/>
              </a:ext>
            </a:extLst>
          </p:cNvPr>
          <p:cNvSpPr>
            <a:spLocks xmlns:a="http://schemas.openxmlformats.org/drawingml/2006/main" noGrp="1"/>
          </p:cNvSpPr>
          <p:nvPr/>
        </p:nvSpPr>
        <p:spPr>
          <a:xfrm xmlns:a="http://schemas.openxmlformats.org/drawingml/2006/main">
            <a:off x="8096250" y="35242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812"/>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Errors remain ordinary return values</a:t>
            </a:r>
          </a:p>
        </p:txBody>
      </p:sp>
      <p:sp>
        <p:nvSpPr>
          <p:cNvPr id="12" name="">
            <a:extLst xmlns:a="http://schemas.openxmlformats.org/drawingml/2006/main">
              <a:ext uri="{FF2B5EF4-FFF2-40B4-BE49-F238E27FC236}">
                <a16:creationId xmlns:a16="http://schemas.microsoft.com/office/drawing/2014/main" id="{07361ADB-5692-4BB8-B836-C7E0805FAB0E}"/>
              </a:ext>
            </a:extLst>
          </p:cNvPr>
          <p:cNvSpPr>
            <a:spLocks xmlns:a="http://schemas.openxmlformats.org/drawingml/2006/main" noGrp="1"/>
          </p:cNvSpPr>
          <p:nvPr/>
        </p:nvSpPr>
        <p:spPr>
          <a:xfrm xmlns:a="http://schemas.openxmlformats.org/drawingml/2006/main">
            <a:off x="7810500" y="424815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4555"/>
          </a:bodyPr>
          <a:lstStyle xmlns:a="http://schemas.openxmlformats.org/drawingml/2006/main"/>
          <a:p xmlns:a="http://schemas.openxmlformats.org/drawingml/2006/main">
            <a:pPr algn="l">
              <a:defRPr sz="1575" b="1">
                <a:solidFill>
                  <a:srgbClr val="087EA4"/>
                </a:solidFill>
                <a:latin typeface="Helvetica Neue"/>
                <a:ea typeface="Helvetica Neue"/>
                <a:cs typeface="Helvetica Neue"/>
              </a:defRPr>
            </a:pPr>
            <a:r>
              <a:rPr sz="1575" b="1">
                <a:solidFill>
                  <a:srgbClr val="087EA4"/>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61B5D9D4-4D1F-4C55-9B99-39C479C59A79}"/>
              </a:ext>
            </a:extLst>
          </p:cNvPr>
          <p:cNvSpPr>
            <a:spLocks xmlns:a="http://schemas.openxmlformats.org/drawingml/2006/main" noGrp="1"/>
          </p:cNvSpPr>
          <p:nvPr/>
        </p:nvSpPr>
        <p:spPr>
          <a:xfrm xmlns:a="http://schemas.openxmlformats.org/drawingml/2006/main">
            <a:off x="8096250" y="42386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536"/>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Small methods favor readable control flow</a:t>
            </a:r>
          </a:p>
        </p:txBody>
      </p:sp>
      <p:sp>
        <p:nvSpPr>
          <p:cNvPr id="14" name="">
            <a:extLst xmlns:a="http://schemas.openxmlformats.org/drawingml/2006/main">
              <a:ext uri="{FF2B5EF4-FFF2-40B4-BE49-F238E27FC236}">
                <a16:creationId xmlns:a16="http://schemas.microsoft.com/office/drawing/2014/main" id="{0A67B314-6081-4234-B16A-51019200A2CE}"/>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15" name="">
            <a:extLst xmlns:a="http://schemas.openxmlformats.org/drawingml/2006/main">
              <a:ext uri="{FF2B5EF4-FFF2-40B4-BE49-F238E27FC236}">
                <a16:creationId xmlns:a16="http://schemas.microsoft.com/office/drawing/2014/main" id="{95F91D5E-A657-4CBF-A3E7-AB79B29B9520}"/>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13</a:t>
            </a:r>
          </a:p>
        </p:txBody>
      </p:sp>
    </p:spTree>
    <p:extLst>
      <p:ext uri="{BB962C8B-B14F-4D97-AF65-F5344CB8AC3E}">
        <p14:creationId xmlns:p14="http://schemas.microsoft.com/office/powerpoint/2010/main" val="3299029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EF95FC9-3DB3-4FBA-9A0C-9E5FD7FCAA0B}"/>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Go models and error handling</a:t>
            </a:r>
          </a:p>
        </p:txBody>
      </p:sp>
      <p:sp>
        <p:nvSpPr>
          <p:cNvPr id="2" name="">
            <a:extLst xmlns:a="http://schemas.openxmlformats.org/drawingml/2006/main">
              <a:ext uri="{FF2B5EF4-FFF2-40B4-BE49-F238E27FC236}">
                <a16:creationId xmlns:a16="http://schemas.microsoft.com/office/drawing/2014/main" id="{293A04F7-E643-4F27-BB07-BEA619A8DDEC}"/>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44030F6-1055-4091-9341-F1B85773B45C}"/>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Struct tags define JSON fields while sentinel errors preserve simple control flow</a:t>
            </a:r>
          </a:p>
        </p:txBody>
      </p:sp>
      <p:sp>
        <p:nvSpPr>
          <p:cNvPr id="4" name="">
            <a:extLst xmlns:a="http://schemas.openxmlformats.org/drawingml/2006/main">
              <a:ext uri="{FF2B5EF4-FFF2-40B4-BE49-F238E27FC236}">
                <a16:creationId xmlns:a16="http://schemas.microsoft.com/office/drawing/2014/main" id="{3CA9933B-B33E-48AD-8709-4F07E01365F0}"/>
              </a:ext>
            </a:extLst>
          </p:cNvPr>
          <p:cNvSpPr>
            <a:spLocks xmlns:a="http://schemas.openxmlformats.org/drawingml/2006/main" noGrp="1"/>
          </p:cNvSpPr>
          <p:nvPr/>
        </p:nvSpPr>
        <p:spPr>
          <a:xfrm xmlns:a="http://schemas.openxmlformats.org/drawingml/2006/main">
            <a:off x="666750" y="1571625"/>
            <a:ext cx="6858000" cy="3905250"/>
          </a:xfrm>
          <a:prstGeom xmlns:a="http://schemas.openxmlformats.org/drawingml/2006/main" prst="rect">
            <a:avLst/>
          </a:prstGeom>
          <a:solidFill xmlns:a="http://schemas.openxmlformats.org/drawingml/2006/main">
            <a:srgbClr val="0F1E1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type Message struct {</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MessageID   uint64 `json:"message_id"`</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SenderID    string `json:"sender_id"`</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RecipientID string `json:"recipient_id"`</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Content     string `json:"content"`</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    TimestampMS int64  `json:"timestamp_ms"`</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a:t>
            </a:r>
          </a:p>
          <a:p xmlns:a="http://schemas.openxmlformats.org/drawingml/2006/main">
            <a:r>
              <a:t/>
            </a:r>
          </a:p>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var ErrUnknownUser = errors.New("unknown user")</a:t>
            </a:r>
          </a:p>
        </p:txBody>
      </p:sp>
      <p:sp>
        <p:nvSpPr>
          <p:cNvPr id="5" name="">
            <a:extLst xmlns:a="http://schemas.openxmlformats.org/drawingml/2006/main">
              <a:ext uri="{FF2B5EF4-FFF2-40B4-BE49-F238E27FC236}">
                <a16:creationId xmlns:a16="http://schemas.microsoft.com/office/drawing/2014/main" id="{1E38058C-D650-4ADE-B934-C82A16D789D2}"/>
              </a:ext>
            </a:extLst>
          </p:cNvPr>
          <p:cNvSpPr>
            <a:spLocks xmlns:a="http://schemas.openxmlformats.org/drawingml/2006/main" noGrp="1"/>
          </p:cNvSpPr>
          <p:nvPr/>
        </p:nvSpPr>
        <p:spPr>
          <a:xfrm xmlns:a="http://schemas.openxmlformats.org/drawingml/2006/main">
            <a:off x="8048625" y="1666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87EA4"/>
                </a:solidFill>
                <a:latin typeface="Helvetica Neue"/>
                <a:ea typeface="Helvetica Neue"/>
                <a:cs typeface="Helvetica Neue"/>
              </a:defRPr>
            </a:pPr>
            <a:r>
              <a:rPr sz="975" b="1">
                <a:solidFill>
                  <a:srgbClr val="087EA4"/>
                </a:solidFill>
                <a:latin typeface="Helvetica Neue"/>
                <a:ea typeface="Helvetica Neue"/>
                <a:cs typeface="Helvetica Neue"/>
              </a:rPr>
              <a:t>GO LANGUAGE FEATURES</a:t>
            </a:r>
          </a:p>
        </p:txBody>
      </p:sp>
      <p:sp>
        <p:nvSpPr>
          <p:cNvPr id="6" name="">
            <a:extLst xmlns:a="http://schemas.openxmlformats.org/drawingml/2006/main">
              <a:ext uri="{FF2B5EF4-FFF2-40B4-BE49-F238E27FC236}">
                <a16:creationId xmlns:a16="http://schemas.microsoft.com/office/drawing/2014/main" id="{0699D5E6-7A78-4F75-9800-3DEE91B44CF7}"/>
              </a:ext>
            </a:extLst>
          </p:cNvPr>
          <p:cNvSpPr>
            <a:spLocks xmlns:a="http://schemas.openxmlformats.org/drawingml/2006/main" noGrp="1"/>
          </p:cNvSpPr>
          <p:nvPr/>
        </p:nvSpPr>
        <p:spPr>
          <a:xfrm xmlns:a="http://schemas.openxmlformats.org/drawingml/2006/main">
            <a:off x="8048625" y="210502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087EA4"/>
                </a:solidFill>
                <a:latin typeface="Helvetica Neue"/>
                <a:ea typeface="Helvetica Neue"/>
                <a:cs typeface="Helvetica Neue"/>
              </a:defRPr>
            </a:pPr>
            <a:r>
              <a:rPr sz="1500" b="1">
                <a:solidFill>
                  <a:srgbClr val="087EA4"/>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985BF582-9BD2-448B-BF10-7E08C547654C}"/>
              </a:ext>
            </a:extLst>
          </p:cNvPr>
          <p:cNvSpPr>
            <a:spLocks xmlns:a="http://schemas.openxmlformats.org/drawingml/2006/main" noGrp="1"/>
          </p:cNvSpPr>
          <p:nvPr/>
        </p:nvSpPr>
        <p:spPr>
          <a:xfrm xmlns:a="http://schemas.openxmlformats.org/drawingml/2006/main">
            <a:off x="8334375" y="20955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JSON tags align the shared API contract</a:t>
            </a:r>
          </a:p>
        </p:txBody>
      </p:sp>
      <p:sp>
        <p:nvSpPr>
          <p:cNvPr id="8" name="">
            <a:extLst xmlns:a="http://schemas.openxmlformats.org/drawingml/2006/main">
              <a:ext uri="{FF2B5EF4-FFF2-40B4-BE49-F238E27FC236}">
                <a16:creationId xmlns:a16="http://schemas.microsoft.com/office/drawing/2014/main" id="{C40C8C7B-E0F2-45CB-B7F2-E87F33BBEBB2}"/>
              </a:ext>
            </a:extLst>
          </p:cNvPr>
          <p:cNvSpPr>
            <a:spLocks xmlns:a="http://schemas.openxmlformats.org/drawingml/2006/main" noGrp="1"/>
          </p:cNvSpPr>
          <p:nvPr/>
        </p:nvSpPr>
        <p:spPr>
          <a:xfrm xmlns:a="http://schemas.openxmlformats.org/drawingml/2006/main">
            <a:off x="8048625" y="281940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087EA4"/>
                </a:solidFill>
                <a:latin typeface="Helvetica Neue"/>
                <a:ea typeface="Helvetica Neue"/>
                <a:cs typeface="Helvetica Neue"/>
              </a:defRPr>
            </a:pPr>
            <a:r>
              <a:rPr sz="1500" b="1">
                <a:solidFill>
                  <a:srgbClr val="087EA4"/>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5CB41D96-BF6E-4529-9018-D8F352E1E858}"/>
              </a:ext>
            </a:extLst>
          </p:cNvPr>
          <p:cNvSpPr>
            <a:spLocks xmlns:a="http://schemas.openxmlformats.org/drawingml/2006/main" noGrp="1"/>
          </p:cNvSpPr>
          <p:nvPr/>
        </p:nvSpPr>
        <p:spPr>
          <a:xfrm xmlns:a="http://schemas.openxmlformats.org/drawingml/2006/main">
            <a:off x="8334375" y="28098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Sentinel errors support errors.Is checks</a:t>
            </a:r>
          </a:p>
        </p:txBody>
      </p:sp>
      <p:sp>
        <p:nvSpPr>
          <p:cNvPr id="10" name="">
            <a:extLst xmlns:a="http://schemas.openxmlformats.org/drawingml/2006/main">
              <a:ext uri="{FF2B5EF4-FFF2-40B4-BE49-F238E27FC236}">
                <a16:creationId xmlns:a16="http://schemas.microsoft.com/office/drawing/2014/main" id="{1135FFA4-0B92-4698-A5FA-BB5F914BC184}"/>
              </a:ext>
            </a:extLst>
          </p:cNvPr>
          <p:cNvSpPr>
            <a:spLocks xmlns:a="http://schemas.openxmlformats.org/drawingml/2006/main" noGrp="1"/>
          </p:cNvSpPr>
          <p:nvPr/>
        </p:nvSpPr>
        <p:spPr>
          <a:xfrm xmlns:a="http://schemas.openxmlformats.org/drawingml/2006/main">
            <a:off x="8048625" y="353377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087EA4"/>
                </a:solidFill>
                <a:latin typeface="Helvetica Neue"/>
                <a:ea typeface="Helvetica Neue"/>
                <a:cs typeface="Helvetica Neue"/>
              </a:defRPr>
            </a:pPr>
            <a:r>
              <a:rPr sz="1500" b="1">
                <a:solidFill>
                  <a:srgbClr val="087EA4"/>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0585F23D-9EC8-4042-ABA4-9B0590EAFD5F}"/>
              </a:ext>
            </a:extLst>
          </p:cNvPr>
          <p:cNvSpPr>
            <a:spLocks xmlns:a="http://schemas.openxmlformats.org/drawingml/2006/main" noGrp="1"/>
          </p:cNvSpPr>
          <p:nvPr/>
        </p:nvSpPr>
        <p:spPr>
          <a:xfrm xmlns:a="http://schemas.openxmlformats.org/drawingml/2006/main">
            <a:off x="8334375" y="352425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Zero values make failed returns predictable</a:t>
            </a:r>
          </a:p>
        </p:txBody>
      </p:sp>
      <p:sp>
        <p:nvSpPr>
          <p:cNvPr id="12" name="">
            <a:extLst xmlns:a="http://schemas.openxmlformats.org/drawingml/2006/main">
              <a:ext uri="{FF2B5EF4-FFF2-40B4-BE49-F238E27FC236}">
                <a16:creationId xmlns:a16="http://schemas.microsoft.com/office/drawing/2014/main" id="{02B2FAC3-1FA7-4E1A-AA11-CABB23C40E99}"/>
              </a:ext>
            </a:extLst>
          </p:cNvPr>
          <p:cNvSpPr>
            <a:spLocks xmlns:a="http://schemas.openxmlformats.org/drawingml/2006/main" noGrp="1"/>
          </p:cNvSpPr>
          <p:nvPr/>
        </p:nvSpPr>
        <p:spPr>
          <a:xfrm xmlns:a="http://schemas.openxmlformats.org/drawingml/2006/main">
            <a:off x="8048625" y="424815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087EA4"/>
                </a:solidFill>
                <a:latin typeface="Helvetica Neue"/>
                <a:ea typeface="Helvetica Neue"/>
                <a:cs typeface="Helvetica Neue"/>
              </a:defRPr>
            </a:pPr>
            <a:r>
              <a:rPr sz="1500" b="1">
                <a:solidFill>
                  <a:srgbClr val="087EA4"/>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DCAC649B-C899-4972-9CB6-0A3C25EB47BC}"/>
              </a:ext>
            </a:extLst>
          </p:cNvPr>
          <p:cNvSpPr>
            <a:spLocks xmlns:a="http://schemas.openxmlformats.org/drawingml/2006/main" noGrp="1"/>
          </p:cNvSpPr>
          <p:nvPr/>
        </p:nvSpPr>
        <p:spPr>
          <a:xfrm xmlns:a="http://schemas.openxmlformats.org/drawingml/2006/main">
            <a:off x="8334375" y="423862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000"/>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Explicit branches keep HTTP mapping visible</a:t>
            </a:r>
          </a:p>
        </p:txBody>
      </p:sp>
      <p:sp>
        <p:nvSpPr>
          <p:cNvPr id="14" name="">
            <a:extLst xmlns:a="http://schemas.openxmlformats.org/drawingml/2006/main">
              <a:ext uri="{FF2B5EF4-FFF2-40B4-BE49-F238E27FC236}">
                <a16:creationId xmlns:a16="http://schemas.microsoft.com/office/drawing/2014/main" id="{F86AB257-10AA-422E-8CC2-BFD61ADE27EC}"/>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15" name="">
            <a:extLst xmlns:a="http://schemas.openxmlformats.org/drawingml/2006/main">
              <a:ext uri="{FF2B5EF4-FFF2-40B4-BE49-F238E27FC236}">
                <a16:creationId xmlns:a16="http://schemas.microsoft.com/office/drawing/2014/main" id="{1FCD558B-30C2-48E4-A5CA-596BA41ED654}"/>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14</a:t>
            </a:r>
          </a:p>
        </p:txBody>
      </p:sp>
    </p:spTree>
    <p:extLst>
      <p:ext uri="{BB962C8B-B14F-4D97-AF65-F5344CB8AC3E}">
        <p14:creationId xmlns:p14="http://schemas.microsoft.com/office/powerpoint/2010/main" val="6866568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D16A426-DC64-4E89-B593-C6D5EC70E3C5}"/>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Go concurrency with goroutines</a:t>
            </a:r>
          </a:p>
        </p:txBody>
      </p:sp>
      <p:sp>
        <p:nvSpPr>
          <p:cNvPr id="2" name="">
            <a:extLst xmlns:a="http://schemas.openxmlformats.org/drawingml/2006/main">
              <a:ext uri="{FF2B5EF4-FFF2-40B4-BE49-F238E27FC236}">
                <a16:creationId xmlns:a16="http://schemas.microsoft.com/office/drawing/2014/main" id="{AB762D4A-419E-4C1B-84AE-47F6AC8378C3}"/>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DF2FBC8-0C88-4A1C-8843-EC7E9F0BE42E}"/>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Three goroutines share the service while a channel collects six results</a:t>
            </a:r>
          </a:p>
        </p:txBody>
      </p:sp>
      <p:sp>
        <p:nvSpPr>
          <p:cNvPr id="4" name="">
            <a:extLst xmlns:a="http://schemas.openxmlformats.org/drawingml/2006/main">
              <a:ext uri="{FF2B5EF4-FFF2-40B4-BE49-F238E27FC236}">
                <a16:creationId xmlns:a16="http://schemas.microsoft.com/office/drawing/2014/main" id="{A556D5D1-AA38-49E1-A4C0-42CC07014CCB}"/>
              </a:ext>
            </a:extLst>
          </p:cNvPr>
          <p:cNvSpPr>
            <a:spLocks xmlns:a="http://schemas.openxmlformats.org/drawingml/2006/main" noGrp="1"/>
          </p:cNvSpPr>
          <p:nvPr/>
        </p:nvSpPr>
        <p:spPr>
          <a:xfrm xmlns:a="http://schemas.openxmlformats.org/drawingml/2006/main">
            <a:off x="666750" y="1571625"/>
            <a:ext cx="6667500" cy="3857625"/>
          </a:xfrm>
          <a:prstGeom xmlns:a="http://schemas.openxmlformats.org/drawingml/2006/main" prst="rect">
            <a:avLst/>
          </a:prstGeom>
          <a:solidFill xmlns:a="http://schemas.openxmlformats.org/drawingml/2006/main">
            <a:srgbClr val="0F1E1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results := make(chan simulationResult, 6)</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for _, user := range users {</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    user := user</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    go func() {</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        for _, content := range user.messages {</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            message, err := s.SendMessage(...)</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            results &lt;- simulationResult{message, err}</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        }</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    }()</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a:t>
            </a:r>
          </a:p>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for i := 0; i &lt; 6; i++ { result := &lt;-results }</a:t>
            </a:r>
          </a:p>
        </p:txBody>
      </p:sp>
      <p:sp>
        <p:nvSpPr>
          <p:cNvPr id="5" name="">
            <a:extLst xmlns:a="http://schemas.openxmlformats.org/drawingml/2006/main">
              <a:ext uri="{FF2B5EF4-FFF2-40B4-BE49-F238E27FC236}">
                <a16:creationId xmlns:a16="http://schemas.microsoft.com/office/drawing/2014/main" id="{A9101235-757F-4983-AB7C-D20C04203C9A}"/>
              </a:ext>
            </a:extLst>
          </p:cNvPr>
          <p:cNvSpPr>
            <a:spLocks xmlns:a="http://schemas.openxmlformats.org/drawingml/2006/main" noGrp="1"/>
          </p:cNvSpPr>
          <p:nvPr/>
        </p:nvSpPr>
        <p:spPr>
          <a:xfrm xmlns:a="http://schemas.openxmlformats.org/drawingml/2006/main">
            <a:off x="7858125" y="16668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87EA4"/>
                </a:solidFill>
                <a:latin typeface="Helvetica Neue"/>
                <a:ea typeface="Helvetica Neue"/>
                <a:cs typeface="Helvetica Neue"/>
              </a:defRPr>
            </a:pPr>
            <a:r>
              <a:rPr sz="975" b="1">
                <a:solidFill>
                  <a:srgbClr val="087EA4"/>
                </a:solidFill>
                <a:latin typeface="Helvetica Neue"/>
                <a:ea typeface="Helvetica Neue"/>
                <a:cs typeface="Helvetica Neue"/>
              </a:rPr>
              <a:t>EXECUTION MODEL</a:t>
            </a:r>
          </a:p>
        </p:txBody>
      </p:sp>
      <p:sp>
        <p:nvSpPr>
          <p:cNvPr id="6" name="">
            <a:extLst xmlns:a="http://schemas.openxmlformats.org/drawingml/2006/main">
              <a:ext uri="{FF2B5EF4-FFF2-40B4-BE49-F238E27FC236}">
                <a16:creationId xmlns:a16="http://schemas.microsoft.com/office/drawing/2014/main" id="{854CCE5B-0C74-4E70-A4AD-D3EB1A7D6CE6}"/>
              </a:ext>
            </a:extLst>
          </p:cNvPr>
          <p:cNvSpPr>
            <a:spLocks xmlns:a="http://schemas.openxmlformats.org/drawingml/2006/main" noGrp="1"/>
          </p:cNvSpPr>
          <p:nvPr/>
        </p:nvSpPr>
        <p:spPr>
          <a:xfrm xmlns:a="http://schemas.openxmlformats.org/drawingml/2006/main">
            <a:off x="7858125" y="210502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087EA4"/>
                </a:solidFill>
                <a:latin typeface="Helvetica Neue"/>
                <a:ea typeface="Helvetica Neue"/>
                <a:cs typeface="Helvetica Neue"/>
              </a:defRPr>
            </a:pPr>
            <a:r>
              <a:rPr sz="1500" b="1">
                <a:solidFill>
                  <a:srgbClr val="087EA4"/>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062F2390-A396-4055-8BA0-9575A27F811F}"/>
              </a:ext>
            </a:extLst>
          </p:cNvPr>
          <p:cNvSpPr>
            <a:spLocks xmlns:a="http://schemas.openxmlformats.org/drawingml/2006/main" noGrp="1"/>
          </p:cNvSpPr>
          <p:nvPr/>
        </p:nvSpPr>
        <p:spPr>
          <a:xfrm xmlns:a="http://schemas.openxmlformats.org/drawingml/2006/main">
            <a:off x="8143875" y="20955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772"/>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Goroutines schedule simulated users</a:t>
            </a:r>
          </a:p>
        </p:txBody>
      </p:sp>
      <p:sp>
        <p:nvSpPr>
          <p:cNvPr id="8" name="">
            <a:extLst xmlns:a="http://schemas.openxmlformats.org/drawingml/2006/main">
              <a:ext uri="{FF2B5EF4-FFF2-40B4-BE49-F238E27FC236}">
                <a16:creationId xmlns:a16="http://schemas.microsoft.com/office/drawing/2014/main" id="{66176180-766E-443D-8F63-53610D7C341D}"/>
              </a:ext>
            </a:extLst>
          </p:cNvPr>
          <p:cNvSpPr>
            <a:spLocks xmlns:a="http://schemas.openxmlformats.org/drawingml/2006/main" noGrp="1"/>
          </p:cNvSpPr>
          <p:nvPr/>
        </p:nvSpPr>
        <p:spPr>
          <a:xfrm xmlns:a="http://schemas.openxmlformats.org/drawingml/2006/main">
            <a:off x="7858125" y="286702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087EA4"/>
                </a:solidFill>
                <a:latin typeface="Helvetica Neue"/>
                <a:ea typeface="Helvetica Neue"/>
                <a:cs typeface="Helvetica Neue"/>
              </a:defRPr>
            </a:pPr>
            <a:r>
              <a:rPr sz="1500" b="1">
                <a:solidFill>
                  <a:srgbClr val="087EA4"/>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8D505903-FA2D-4818-8653-25EDCC2D22BE}"/>
              </a:ext>
            </a:extLst>
          </p:cNvPr>
          <p:cNvSpPr>
            <a:spLocks xmlns:a="http://schemas.openxmlformats.org/drawingml/2006/main" noGrp="1"/>
          </p:cNvSpPr>
          <p:nvPr/>
        </p:nvSpPr>
        <p:spPr>
          <a:xfrm xmlns:a="http://schemas.openxmlformats.org/drawingml/2006/main">
            <a:off x="8143875" y="28575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867"/>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A buffered channel collects every result</a:t>
            </a:r>
          </a:p>
        </p:txBody>
      </p:sp>
      <p:sp>
        <p:nvSpPr>
          <p:cNvPr id="10" name="">
            <a:extLst xmlns:a="http://schemas.openxmlformats.org/drawingml/2006/main">
              <a:ext uri="{FF2B5EF4-FFF2-40B4-BE49-F238E27FC236}">
                <a16:creationId xmlns:a16="http://schemas.microsoft.com/office/drawing/2014/main" id="{91B13D7F-86E3-491E-AF37-8EF90DBD7CD5}"/>
              </a:ext>
            </a:extLst>
          </p:cNvPr>
          <p:cNvSpPr>
            <a:spLocks xmlns:a="http://schemas.openxmlformats.org/drawingml/2006/main" noGrp="1"/>
          </p:cNvSpPr>
          <p:nvPr/>
        </p:nvSpPr>
        <p:spPr>
          <a:xfrm xmlns:a="http://schemas.openxmlformats.org/drawingml/2006/main">
            <a:off x="7858125" y="362902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087EA4"/>
                </a:solidFill>
                <a:latin typeface="Helvetica Neue"/>
                <a:ea typeface="Helvetica Neue"/>
                <a:cs typeface="Helvetica Neue"/>
              </a:defRPr>
            </a:pPr>
            <a:r>
              <a:rPr sz="1500" b="1">
                <a:solidFill>
                  <a:srgbClr val="087EA4"/>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96BC7142-945F-4371-AF61-C55B4C229026}"/>
              </a:ext>
            </a:extLst>
          </p:cNvPr>
          <p:cNvSpPr>
            <a:spLocks xmlns:a="http://schemas.openxmlformats.org/drawingml/2006/main" noGrp="1"/>
          </p:cNvSpPr>
          <p:nvPr/>
        </p:nvSpPr>
        <p:spPr>
          <a:xfrm xmlns:a="http://schemas.openxmlformats.org/drawingml/2006/main">
            <a:off x="8143875" y="36195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052"/>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RWMutex protects IDs and history</a:t>
            </a:r>
          </a:p>
        </p:txBody>
      </p:sp>
      <p:sp>
        <p:nvSpPr>
          <p:cNvPr id="12" name="">
            <a:extLst xmlns:a="http://schemas.openxmlformats.org/drawingml/2006/main">
              <a:ext uri="{FF2B5EF4-FFF2-40B4-BE49-F238E27FC236}">
                <a16:creationId xmlns:a16="http://schemas.microsoft.com/office/drawing/2014/main" id="{82500F0C-EED4-4AE0-B960-DB33E71C4AD9}"/>
              </a:ext>
            </a:extLst>
          </p:cNvPr>
          <p:cNvSpPr>
            <a:spLocks xmlns:a="http://schemas.openxmlformats.org/drawingml/2006/main" noGrp="1"/>
          </p:cNvSpPr>
          <p:nvPr/>
        </p:nvSpPr>
        <p:spPr>
          <a:xfrm xmlns:a="http://schemas.openxmlformats.org/drawingml/2006/main">
            <a:off x="7858125" y="4391025"/>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782"/>
          </a:bodyPr>
          <a:lstStyle xmlns:a="http://schemas.openxmlformats.org/drawingml/2006/main"/>
          <a:p xmlns:a="http://schemas.openxmlformats.org/drawingml/2006/main">
            <a:pPr algn="l">
              <a:defRPr sz="1500" b="1">
                <a:solidFill>
                  <a:srgbClr val="087EA4"/>
                </a:solidFill>
                <a:latin typeface="Helvetica Neue"/>
                <a:ea typeface="Helvetica Neue"/>
                <a:cs typeface="Helvetica Neue"/>
              </a:defRPr>
            </a:pPr>
            <a:r>
              <a:rPr sz="1500" b="1">
                <a:solidFill>
                  <a:srgbClr val="087EA4"/>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44EF878F-1C34-4FCE-A8C5-1E8D372450C4}"/>
              </a:ext>
            </a:extLst>
          </p:cNvPr>
          <p:cNvSpPr>
            <a:spLocks xmlns:a="http://schemas.openxmlformats.org/drawingml/2006/main" noGrp="1"/>
          </p:cNvSpPr>
          <p:nvPr/>
        </p:nvSpPr>
        <p:spPr>
          <a:xfrm xmlns:a="http://schemas.openxmlformats.org/drawingml/2006/main">
            <a:off x="8143875" y="43815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847"/>
          </a:bodyPr>
          <a:lstStyle xmlns:a="http://schemas.openxmlformats.org/drawingml/2006/main"/>
          <a:p xmlns:a="http://schemas.openxmlformats.org/drawingml/2006/main">
            <a:pPr algn="l">
              <a:defRPr sz="1500" b="0">
                <a:solidFill>
                  <a:srgbClr val="172A32"/>
                </a:solidFill>
                <a:latin typeface="Helvetica Neue"/>
                <a:ea typeface="Helvetica Neue"/>
                <a:cs typeface="Helvetica Neue"/>
              </a:defRPr>
            </a:pPr>
            <a:r>
              <a:rPr sz="1500" b="0">
                <a:solidFill>
                  <a:srgbClr val="172A32"/>
                </a:solidFill>
                <a:latin typeface="Helvetica Neue"/>
                <a:ea typeface="Helvetica Neue"/>
                <a:cs typeface="Helvetica Neue"/>
              </a:rPr>
              <a:t>Sorting makes the response deterministic</a:t>
            </a:r>
          </a:p>
        </p:txBody>
      </p:sp>
      <p:sp>
        <p:nvSpPr>
          <p:cNvPr id="14" name="">
            <a:extLst xmlns:a="http://schemas.openxmlformats.org/drawingml/2006/main">
              <a:ext uri="{FF2B5EF4-FFF2-40B4-BE49-F238E27FC236}">
                <a16:creationId xmlns:a16="http://schemas.microsoft.com/office/drawing/2014/main" id="{B65029C0-E6DB-44F0-8BD3-48287D1FBC2E}"/>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15" name="">
            <a:extLst xmlns:a="http://schemas.openxmlformats.org/drawingml/2006/main">
              <a:ext uri="{FF2B5EF4-FFF2-40B4-BE49-F238E27FC236}">
                <a16:creationId xmlns:a16="http://schemas.microsoft.com/office/drawing/2014/main" id="{5F68FA1D-1A23-449D-84DA-CC3B568D0FBB}"/>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15</a:t>
            </a:r>
          </a:p>
        </p:txBody>
      </p:sp>
    </p:spTree>
    <p:extLst>
      <p:ext uri="{BB962C8B-B14F-4D97-AF65-F5344CB8AC3E}">
        <p14:creationId xmlns:p14="http://schemas.microsoft.com/office/powerpoint/2010/main" val="126799075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DB2D0B0-73A7-47A9-9398-B6C1498399E8}"/>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Go testing and verification</a:t>
            </a:r>
          </a:p>
        </p:txBody>
      </p:sp>
      <p:sp>
        <p:nvSpPr>
          <p:cNvPr id="2" name="">
            <a:extLst xmlns:a="http://schemas.openxmlformats.org/drawingml/2006/main">
              <a:ext uri="{FF2B5EF4-FFF2-40B4-BE49-F238E27FC236}">
                <a16:creationId xmlns:a16="http://schemas.microsoft.com/office/drawing/2014/main" id="{52172142-C789-4CBA-B968-C604AE0BC418}"/>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52A63C7-9B1C-496C-B75A-8AC2591F6EF8}"/>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Service and API tests run with static analysis and the race detector</a:t>
            </a:r>
          </a:p>
        </p:txBody>
      </p:sp>
      <p:sp>
        <p:nvSpPr>
          <p:cNvPr id="4" name="">
            <a:extLst xmlns:a="http://schemas.openxmlformats.org/drawingml/2006/main">
              <a:ext uri="{FF2B5EF4-FFF2-40B4-BE49-F238E27FC236}">
                <a16:creationId xmlns:a16="http://schemas.microsoft.com/office/drawing/2014/main" id="{7BBED82A-EC52-455E-9253-EDB0EE4BC9DD}"/>
              </a:ext>
            </a:extLst>
          </p:cNvPr>
          <p:cNvSpPr>
            <a:spLocks xmlns:a="http://schemas.openxmlformats.org/drawingml/2006/main" noGrp="1"/>
          </p:cNvSpPr>
          <p:nvPr/>
        </p:nvSpPr>
        <p:spPr>
          <a:xfrm xmlns:a="http://schemas.openxmlformats.org/drawingml/2006/main">
            <a:off x="857250" y="1666875"/>
            <a:ext cx="5715000" cy="3143250"/>
          </a:xfrm>
          <a:prstGeom xmlns:a="http://schemas.openxmlformats.org/drawingml/2006/main" prst="rect">
            <a:avLst/>
          </a:prstGeom>
          <a:solidFill xmlns:a="http://schemas.openxmlformats.org/drawingml/2006/main">
            <a:srgbClr val="0F1E1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gofmt</a:t>
            </a:r>
          </a:p>
          <a:p xmlns:a="http://schemas.openxmlformats.org/drawingml/2006/main">
            <a:r>
              <a:t/>
            </a:r>
          </a:p>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go vet ./...</a:t>
            </a:r>
          </a:p>
          <a:p xmlns:a="http://schemas.openxmlformats.org/drawingml/2006/main">
            <a:r>
              <a:t/>
            </a:r>
          </a:p>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go test ./...</a:t>
            </a:r>
          </a:p>
          <a:p xmlns:a="http://schemas.openxmlformats.org/drawingml/2006/main">
            <a:r>
              <a:t/>
            </a:r>
          </a:p>
          <a:p xmlns:a="http://schemas.openxmlformats.org/drawingml/2006/main">
            <a:pPr algn="l">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go test -race ./...</a:t>
            </a:r>
          </a:p>
        </p:txBody>
      </p:sp>
      <p:sp>
        <p:nvSpPr>
          <p:cNvPr id="5" name="">
            <a:extLst xmlns:a="http://schemas.openxmlformats.org/drawingml/2006/main">
              <a:ext uri="{FF2B5EF4-FFF2-40B4-BE49-F238E27FC236}">
                <a16:creationId xmlns:a16="http://schemas.microsoft.com/office/drawing/2014/main" id="{35D44060-99CE-4665-9B9F-B205ED884622}"/>
              </a:ext>
            </a:extLst>
          </p:cNvPr>
          <p:cNvSpPr>
            <a:spLocks xmlns:a="http://schemas.openxmlformats.org/drawingml/2006/main" noGrp="1"/>
          </p:cNvSpPr>
          <p:nvPr/>
        </p:nvSpPr>
        <p:spPr>
          <a:xfrm xmlns:a="http://schemas.openxmlformats.org/drawingml/2006/main">
            <a:off x="7239000" y="17145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087EA4"/>
                </a:solidFill>
                <a:latin typeface="Helvetica Neue"/>
                <a:ea typeface="Helvetica Neue"/>
                <a:cs typeface="Helvetica Neue"/>
              </a:defRPr>
            </a:pPr>
            <a:r>
              <a:rPr sz="975" b="1">
                <a:solidFill>
                  <a:srgbClr val="087EA4"/>
                </a:solidFill>
                <a:latin typeface="Helvetica Neue"/>
                <a:ea typeface="Helvetica Neue"/>
                <a:cs typeface="Helvetica Neue"/>
              </a:rPr>
              <a:t>VERIFIED BEHAVIOR</a:t>
            </a:r>
          </a:p>
        </p:txBody>
      </p:sp>
      <p:sp>
        <p:nvSpPr>
          <p:cNvPr id="6" name="">
            <a:extLst xmlns:a="http://schemas.openxmlformats.org/drawingml/2006/main">
              <a:ext uri="{FF2B5EF4-FFF2-40B4-BE49-F238E27FC236}">
                <a16:creationId xmlns:a16="http://schemas.microsoft.com/office/drawing/2014/main" id="{F9563A9C-7F95-468C-AF8A-7A87B90F9901}"/>
              </a:ext>
            </a:extLst>
          </p:cNvPr>
          <p:cNvSpPr>
            <a:spLocks xmlns:a="http://schemas.openxmlformats.org/drawingml/2006/main" noGrp="1"/>
          </p:cNvSpPr>
          <p:nvPr/>
        </p:nvSpPr>
        <p:spPr>
          <a:xfrm xmlns:a="http://schemas.openxmlformats.org/drawingml/2006/main">
            <a:off x="7239000" y="215265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4555"/>
          </a:bodyPr>
          <a:lstStyle xmlns:a="http://schemas.openxmlformats.org/drawingml/2006/main"/>
          <a:p xmlns:a="http://schemas.openxmlformats.org/drawingml/2006/main">
            <a:pPr algn="l">
              <a:defRPr sz="1575" b="1">
                <a:solidFill>
                  <a:srgbClr val="087EA4"/>
                </a:solidFill>
                <a:latin typeface="Helvetica Neue"/>
                <a:ea typeface="Helvetica Neue"/>
                <a:cs typeface="Helvetica Neue"/>
              </a:defRPr>
            </a:pPr>
            <a:r>
              <a:rPr sz="1575" b="1">
                <a:solidFill>
                  <a:srgbClr val="087EA4"/>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0A558632-E801-48EB-AA40-F57F7037BB51}"/>
              </a:ext>
            </a:extLst>
          </p:cNvPr>
          <p:cNvSpPr>
            <a:spLocks xmlns:a="http://schemas.openxmlformats.org/drawingml/2006/main" noGrp="1"/>
          </p:cNvSpPr>
          <p:nvPr/>
        </p:nvSpPr>
        <p:spPr>
          <a:xfrm xmlns:a="http://schemas.openxmlformats.org/drawingml/2006/main">
            <a:off x="7524750" y="214312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HTTP routes and JSON responses</a:t>
            </a:r>
          </a:p>
        </p:txBody>
      </p:sp>
      <p:sp>
        <p:nvSpPr>
          <p:cNvPr id="8" name="">
            <a:extLst xmlns:a="http://schemas.openxmlformats.org/drawingml/2006/main">
              <a:ext uri="{FF2B5EF4-FFF2-40B4-BE49-F238E27FC236}">
                <a16:creationId xmlns:a16="http://schemas.microsoft.com/office/drawing/2014/main" id="{6B01A3F1-18BB-4E80-B23C-DBE9F491709A}"/>
              </a:ext>
            </a:extLst>
          </p:cNvPr>
          <p:cNvSpPr>
            <a:spLocks xmlns:a="http://schemas.openxmlformats.org/drawingml/2006/main" noGrp="1"/>
          </p:cNvSpPr>
          <p:nvPr/>
        </p:nvSpPr>
        <p:spPr>
          <a:xfrm xmlns:a="http://schemas.openxmlformats.org/drawingml/2006/main">
            <a:off x="7239000" y="281940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4555"/>
          </a:bodyPr>
          <a:lstStyle xmlns:a="http://schemas.openxmlformats.org/drawingml/2006/main"/>
          <a:p xmlns:a="http://schemas.openxmlformats.org/drawingml/2006/main">
            <a:pPr algn="l">
              <a:defRPr sz="1575" b="1">
                <a:solidFill>
                  <a:srgbClr val="087EA4"/>
                </a:solidFill>
                <a:latin typeface="Helvetica Neue"/>
                <a:ea typeface="Helvetica Neue"/>
                <a:cs typeface="Helvetica Neue"/>
              </a:defRPr>
            </a:pPr>
            <a:r>
              <a:rPr sz="1575" b="1">
                <a:solidFill>
                  <a:srgbClr val="087EA4"/>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6728B978-9047-4961-BEC0-C425466D12D6}"/>
              </a:ext>
            </a:extLst>
          </p:cNvPr>
          <p:cNvSpPr>
            <a:spLocks xmlns:a="http://schemas.openxmlformats.org/drawingml/2006/main" noGrp="1"/>
          </p:cNvSpPr>
          <p:nvPr/>
        </p:nvSpPr>
        <p:spPr>
          <a:xfrm xmlns:a="http://schemas.openxmlformats.org/drawingml/2006/main">
            <a:off x="7524750" y="280987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402"/>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Message validation and sequential IDs</a:t>
            </a:r>
          </a:p>
        </p:txBody>
      </p:sp>
      <p:sp>
        <p:nvSpPr>
          <p:cNvPr id="10" name="">
            <a:extLst xmlns:a="http://schemas.openxmlformats.org/drawingml/2006/main">
              <a:ext uri="{FF2B5EF4-FFF2-40B4-BE49-F238E27FC236}">
                <a16:creationId xmlns:a16="http://schemas.microsoft.com/office/drawing/2014/main" id="{E7BFA6E7-F980-44B6-B0CD-08A5E5F774F2}"/>
              </a:ext>
            </a:extLst>
          </p:cNvPr>
          <p:cNvSpPr>
            <a:spLocks xmlns:a="http://schemas.openxmlformats.org/drawingml/2006/main" noGrp="1"/>
          </p:cNvSpPr>
          <p:nvPr/>
        </p:nvSpPr>
        <p:spPr>
          <a:xfrm xmlns:a="http://schemas.openxmlformats.org/drawingml/2006/main">
            <a:off x="7239000" y="348615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4555"/>
          </a:bodyPr>
          <a:lstStyle xmlns:a="http://schemas.openxmlformats.org/drawingml/2006/main"/>
          <a:p xmlns:a="http://schemas.openxmlformats.org/drawingml/2006/main">
            <a:pPr algn="l">
              <a:defRPr sz="1575" b="1">
                <a:solidFill>
                  <a:srgbClr val="087EA4"/>
                </a:solidFill>
                <a:latin typeface="Helvetica Neue"/>
                <a:ea typeface="Helvetica Neue"/>
                <a:cs typeface="Helvetica Neue"/>
              </a:defRPr>
            </a:pPr>
            <a:r>
              <a:rPr sz="1575" b="1">
                <a:solidFill>
                  <a:srgbClr val="087EA4"/>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83489438-C0D2-405A-9CEB-D412BFA48531}"/>
              </a:ext>
            </a:extLst>
          </p:cNvPr>
          <p:cNvSpPr>
            <a:spLocks xmlns:a="http://schemas.openxmlformats.org/drawingml/2006/main" noGrp="1"/>
          </p:cNvSpPr>
          <p:nvPr/>
        </p:nvSpPr>
        <p:spPr>
          <a:xfrm xmlns:a="http://schemas.openxmlformats.org/drawingml/2006/main">
            <a:off x="7524750" y="347662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Conversation and keyword queries</a:t>
            </a:r>
          </a:p>
        </p:txBody>
      </p:sp>
      <p:sp>
        <p:nvSpPr>
          <p:cNvPr id="12" name="">
            <a:extLst xmlns:a="http://schemas.openxmlformats.org/drawingml/2006/main">
              <a:ext uri="{FF2B5EF4-FFF2-40B4-BE49-F238E27FC236}">
                <a16:creationId xmlns:a16="http://schemas.microsoft.com/office/drawing/2014/main" id="{D00E39FE-7A15-483D-B97C-D2D5EC2D14DB}"/>
              </a:ext>
            </a:extLst>
          </p:cNvPr>
          <p:cNvSpPr>
            <a:spLocks xmlns:a="http://schemas.openxmlformats.org/drawingml/2006/main" noGrp="1"/>
          </p:cNvSpPr>
          <p:nvPr/>
        </p:nvSpPr>
        <p:spPr>
          <a:xfrm xmlns:a="http://schemas.openxmlformats.org/drawingml/2006/main">
            <a:off x="7239000" y="4152900"/>
            <a:ext cx="22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4555"/>
          </a:bodyPr>
          <a:lstStyle xmlns:a="http://schemas.openxmlformats.org/drawingml/2006/main"/>
          <a:p xmlns:a="http://schemas.openxmlformats.org/drawingml/2006/main">
            <a:pPr algn="l">
              <a:defRPr sz="1575" b="1">
                <a:solidFill>
                  <a:srgbClr val="087EA4"/>
                </a:solidFill>
                <a:latin typeface="Helvetica Neue"/>
                <a:ea typeface="Helvetica Neue"/>
                <a:cs typeface="Helvetica Neue"/>
              </a:defRPr>
            </a:pPr>
            <a:r>
              <a:rPr sz="1575" b="1">
                <a:solidFill>
                  <a:srgbClr val="087EA4"/>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D7DA1A81-D423-40B1-A770-5D5E64BC3DDE}"/>
              </a:ext>
            </a:extLst>
          </p:cNvPr>
          <p:cNvSpPr>
            <a:spLocks xmlns:a="http://schemas.openxmlformats.org/drawingml/2006/main" noGrp="1"/>
          </p:cNvSpPr>
          <p:nvPr/>
        </p:nvSpPr>
        <p:spPr>
          <a:xfrm xmlns:a="http://schemas.openxmlformats.org/drawingml/2006/main">
            <a:off x="7524750" y="414337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69"/>
          </a:bodyPr>
          <a:lstStyle xmlns:a="http://schemas.openxmlformats.org/drawingml/2006/main"/>
          <a:p xmlns:a="http://schemas.openxmlformats.org/drawingml/2006/main">
            <a:pPr algn="l">
              <a:defRPr sz="1575" b="0">
                <a:solidFill>
                  <a:srgbClr val="172A32"/>
                </a:solidFill>
                <a:latin typeface="Helvetica Neue"/>
                <a:ea typeface="Helvetica Neue"/>
                <a:cs typeface="Helvetica Neue"/>
              </a:defRPr>
            </a:pPr>
            <a:r>
              <a:rPr sz="1575" b="0">
                <a:solidFill>
                  <a:srgbClr val="172A32"/>
                </a:solidFill>
                <a:latin typeface="Helvetica Neue"/>
                <a:ea typeface="Helvetica Neue"/>
                <a:cs typeface="Helvetica Neue"/>
              </a:rPr>
              <a:t>Concurrent simulation without race reports</a:t>
            </a:r>
          </a:p>
        </p:txBody>
      </p:sp>
      <p:sp>
        <p:nvSpPr>
          <p:cNvPr id="14" name="">
            <a:extLst xmlns:a="http://schemas.openxmlformats.org/drawingml/2006/main">
              <a:ext uri="{FF2B5EF4-FFF2-40B4-BE49-F238E27FC236}">
                <a16:creationId xmlns:a16="http://schemas.microsoft.com/office/drawing/2014/main" id="{46A36500-A6EA-4DA0-9D55-FB65AAF88074}"/>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15" name="">
            <a:extLst xmlns:a="http://schemas.openxmlformats.org/drawingml/2006/main">
              <a:ext uri="{FF2B5EF4-FFF2-40B4-BE49-F238E27FC236}">
                <a16:creationId xmlns:a16="http://schemas.microsoft.com/office/drawing/2014/main" id="{AF8B6C76-971C-4F14-9CAC-2E93294EB087}"/>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16</a:t>
            </a:r>
          </a:p>
        </p:txBody>
      </p:sp>
    </p:spTree>
    <p:extLst>
      <p:ext uri="{BB962C8B-B14F-4D97-AF65-F5344CB8AC3E}">
        <p14:creationId xmlns:p14="http://schemas.microsoft.com/office/powerpoint/2010/main" val="84063312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BC3C55-270E-4F84-BFB0-346E808050AE}"/>
              </a:ext>
            </a:extLst>
          </p:cNvPr>
          <p:cNvSpPr>
            <a:spLocks xmlns:a="http://schemas.openxmlformats.org/drawingml/2006/main" noGrp="1"/>
          </p:cNvSpPr>
          <p:nvPr/>
        </p:nvSpPr>
        <p:spPr>
          <a:xfrm xmlns:a="http://schemas.openxmlformats.org/drawingml/2006/main">
            <a:off x="666750" y="361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72A32"/>
                </a:solidFill>
                <a:latin typeface="Helvetica Neue"/>
                <a:ea typeface="Helvetica Neue"/>
                <a:cs typeface="Helvetica Neue"/>
              </a:defRPr>
            </a:pPr>
            <a:r>
              <a:rPr sz="2550" b="1">
                <a:solidFill>
                  <a:srgbClr val="172A32"/>
                </a:solidFill>
                <a:latin typeface="Helvetica Neue"/>
                <a:ea typeface="Helvetica Neue"/>
                <a:cs typeface="Helvetica Neue"/>
              </a:rPr>
              <a:t>Essential Rust and Go comparison</a:t>
            </a:r>
          </a:p>
        </p:txBody>
      </p:sp>
      <p:sp>
        <p:nvSpPr>
          <p:cNvPr id="2" name="">
            <a:extLst xmlns:a="http://schemas.openxmlformats.org/drawingml/2006/main">
              <a:ext uri="{FF2B5EF4-FFF2-40B4-BE49-F238E27FC236}">
                <a16:creationId xmlns:a16="http://schemas.microsoft.com/office/drawing/2014/main" id="{DF8AE135-BBAE-4918-8677-9CDE981C8146}"/>
              </a:ext>
            </a:extLst>
          </p:cNvPr>
          <p:cNvSpPr>
            <a:spLocks xmlns:a="http://schemas.openxmlformats.org/drawingml/2006/main" noGrp="1"/>
          </p:cNvSpPr>
          <p:nvPr/>
        </p:nvSpPr>
        <p:spPr>
          <a:xfrm xmlns:a="http://schemas.openxmlformats.org/drawingml/2006/main">
            <a:off x="666750" y="971550"/>
            <a:ext cx="800100" cy="47625"/>
          </a:xfrm>
          <a:prstGeom xmlns:a="http://schemas.openxmlformats.org/drawingml/2006/main" prst="rect">
            <a:avLst/>
          </a:prstGeom>
          <a:solidFill xmlns:a="http://schemas.openxmlformats.org/drawingml/2006/main">
            <a:srgbClr val="176B5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21FAEE-2BF9-4C43-9CC0-AF2B4C7D688A}"/>
              </a:ext>
            </a:extLst>
          </p:cNvPr>
          <p:cNvSpPr>
            <a:spLocks xmlns:a="http://schemas.openxmlformats.org/drawingml/2006/main" noGrp="1"/>
          </p:cNvSpPr>
          <p:nvPr/>
        </p:nvSpPr>
        <p:spPr>
          <a:xfrm xmlns:a="http://schemas.openxmlformats.org/drawingml/2006/main">
            <a:off x="666750" y="10668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2666E"/>
                </a:solidFill>
                <a:latin typeface="Helvetica Neue"/>
                <a:ea typeface="Helvetica Neue"/>
                <a:cs typeface="Helvetica Neue"/>
              </a:defRPr>
            </a:pPr>
            <a:r>
              <a:rPr sz="1275" b="0">
                <a:solidFill>
                  <a:srgbClr val="52666E"/>
                </a:solidFill>
                <a:latin typeface="Helvetica Neue"/>
                <a:ea typeface="Helvetica Neue"/>
                <a:cs typeface="Helvetica Neue"/>
              </a:rPr>
              <a:t>The same application behavior is produced through different language designs</a:t>
            </a:r>
          </a:p>
        </p:txBody>
      </p:sp>
      <p:graphicFrame>
        <p:nvGraphicFramePr>
          <p:cNvPr id="10" name=""/>
          <p:cNvGraphicFramePr/>
          <p:nvPr/>
        </p:nvGraphicFramePr>
        <p:xfrm>
          <a:off xmlns:a="http://schemas.openxmlformats.org/drawingml/2006/main" x="476250" y="1600200"/>
          <a:ext xmlns:a="http://schemas.openxmlformats.org/drawingml/2006/main" cx="11239500" cy="4333875"/>
        </p:xfrm>
        <a:graphic xmlns:a="http://schemas.openxmlformats.org/drawingml/2006/main">
          <a:graphicData uri="http://schemas.openxmlformats.org/drawingml/2006/table">
            <a:tbl>
              <a:tblPr/>
              <a:tblGrid>
                <a:gridCol w="1524000"/>
                <a:gridCol w="2524125"/>
                <a:gridCol w="2524125"/>
                <a:gridCol w="4667250"/>
              </a:tblGrid>
              <a:tr h="722313">
                <a:tc>
                  <a:txBody>
                    <a:bodyPr/>
                    <a:lstStyle/>
                    <a:p>
                      <a:r>
                        <a:rPr sz="1125" b="1">
                          <a:solidFill>
                            <a:srgbClr val="FFFFFF"/>
                          </a:solidFill>
                          <a:latin typeface="Helvetica Neue"/>
                          <a:ea typeface="Helvetica Neue"/>
                          <a:cs typeface="Helvetica Neue"/>
                        </a:rPr>
                        <a:t>Area</a:t>
                      </a:r>
                    </a:p>
                  </a:txBody>
                  <a:tcPr marL="85725" marR="85725" marT="66675" marB="66675" anchor="ctr">
                    <a:solidFill>
                      <a:srgbClr val="176B57"/>
                    </a:solidFill>
                  </a:tcPr>
                </a:tc>
                <a:tc>
                  <a:txBody>
                    <a:bodyPr/>
                    <a:lstStyle/>
                    <a:p>
                      <a:r>
                        <a:rPr sz="1125" b="1">
                          <a:solidFill>
                            <a:srgbClr val="FFFFFF"/>
                          </a:solidFill>
                          <a:latin typeface="Helvetica Neue"/>
                          <a:ea typeface="Helvetica Neue"/>
                          <a:cs typeface="Helvetica Neue"/>
                        </a:rPr>
                        <a:t>Go implementation</a:t>
                      </a:r>
                    </a:p>
                  </a:txBody>
                  <a:tcPr marL="85725" marR="85725" marT="66675" marB="66675" anchor="ctr">
                    <a:solidFill>
                      <a:srgbClr val="176B57"/>
                    </a:solidFill>
                  </a:tcPr>
                </a:tc>
                <a:tc>
                  <a:txBody>
                    <a:bodyPr/>
                    <a:lstStyle/>
                    <a:p>
                      <a:r>
                        <a:rPr sz="1125" b="1">
                          <a:solidFill>
                            <a:srgbClr val="FFFFFF"/>
                          </a:solidFill>
                          <a:latin typeface="Helvetica Neue"/>
                          <a:ea typeface="Helvetica Neue"/>
                          <a:cs typeface="Helvetica Neue"/>
                        </a:rPr>
                        <a:t>Rust implementation</a:t>
                      </a:r>
                    </a:p>
                  </a:txBody>
                  <a:tcPr marL="85725" marR="85725" marT="66675" marB="66675" anchor="ctr">
                    <a:solidFill>
                      <a:srgbClr val="176B57"/>
                    </a:solidFill>
                  </a:tcPr>
                </a:tc>
                <a:tc>
                  <a:txBody>
                    <a:bodyPr/>
                    <a:lstStyle/>
                    <a:p>
                      <a:r>
                        <a:rPr sz="1125" b="1">
                          <a:solidFill>
                            <a:srgbClr val="FFFFFF"/>
                          </a:solidFill>
                          <a:latin typeface="Helvetica Neue"/>
                          <a:ea typeface="Helvetica Neue"/>
                          <a:cs typeface="Helvetica Neue"/>
                        </a:rPr>
                        <a:t>What it means</a:t>
                      </a:r>
                    </a:p>
                  </a:txBody>
                  <a:tcPr marL="85725" marR="85725" marT="66675" marB="66675" anchor="ctr">
                    <a:solidFill>
                      <a:srgbClr val="176B57"/>
                    </a:solidFill>
                  </a:tcPr>
                </a:tc>
              </a:tr>
              <a:tr h="722313">
                <a:tc>
                  <a:txBody>
                    <a:bodyPr/>
                    <a:lstStyle/>
                    <a:p>
                      <a:r>
                        <a:rPr sz="975" b="1">
                          <a:solidFill>
                            <a:srgbClr val="172A32"/>
                          </a:solidFill>
                          <a:latin typeface="Helvetica Neue"/>
                          <a:ea typeface="Helvetica Neue"/>
                          <a:cs typeface="Helvetica Neue"/>
                        </a:rPr>
                        <a:t>Concurrency</a:t>
                      </a:r>
                    </a:p>
                  </a:txBody>
                  <a:tcPr marL="85725" marR="85725" marT="57150" marB="57150" anchor="ctr">
                    <a:solidFill>
                      <a:srgbClr val="F4F8F6"/>
                    </a:solidFill>
                  </a:tcPr>
                </a:tc>
                <a:tc>
                  <a:txBody>
                    <a:bodyPr/>
                    <a:lstStyle/>
                    <a:p>
                      <a:r>
                        <a:rPr sz="975">
                          <a:solidFill>
                            <a:srgbClr val="172A32"/>
                          </a:solidFill>
                          <a:latin typeface="Helvetica Neue"/>
                          <a:ea typeface="Helvetica Neue"/>
                          <a:cs typeface="Helvetica Neue"/>
                        </a:rPr>
                        <a:t>Goroutines + channels</a:t>
                      </a:r>
                    </a:p>
                  </a:txBody>
                  <a:tcPr marL="85725" marR="85725" marT="57150" marB="57150" anchor="ctr">
                    <a:solidFill>
                      <a:srgbClr val="F4F8F6"/>
                    </a:solidFill>
                  </a:tcPr>
                </a:tc>
                <a:tc>
                  <a:txBody>
                    <a:bodyPr/>
                    <a:lstStyle/>
                    <a:p>
                      <a:r>
                        <a:rPr sz="975">
                          <a:solidFill>
                            <a:srgbClr val="172A32"/>
                          </a:solidFill>
                          <a:latin typeface="Helvetica Neue"/>
                          <a:ea typeface="Helvetica Neue"/>
                          <a:cs typeface="Helvetica Neue"/>
                        </a:rPr>
                        <a:t>Tokio tasks + channels</a:t>
                      </a:r>
                    </a:p>
                  </a:txBody>
                  <a:tcPr marL="85725" marR="85725" marT="57150" marB="57150" anchor="ctr">
                    <a:solidFill>
                      <a:srgbClr val="F4F8F6"/>
                    </a:solidFill>
                  </a:tcPr>
                </a:tc>
                <a:tc>
                  <a:txBody>
                    <a:bodyPr/>
                    <a:lstStyle/>
                    <a:p>
                      <a:r>
                        <a:rPr sz="975">
                          <a:solidFill>
                            <a:srgbClr val="172A32"/>
                          </a:solidFill>
                          <a:latin typeface="Helvetica Neue"/>
                          <a:ea typeface="Helvetica Neue"/>
                          <a:cs typeface="Helvetica Neue"/>
                        </a:rPr>
                        <a:t>Both run the three simulated users concurrently.</a:t>
                      </a:r>
                    </a:p>
                  </a:txBody>
                  <a:tcPr marL="85725" marR="85725" marT="57150" marB="57150" anchor="ctr">
                    <a:solidFill>
                      <a:srgbClr val="F4F8F6"/>
                    </a:solidFill>
                  </a:tcPr>
                </a:tc>
              </a:tr>
              <a:tr h="722313">
                <a:tc>
                  <a:txBody>
                    <a:bodyPr/>
                    <a:lstStyle/>
                    <a:p>
                      <a:r>
                        <a:rPr sz="975" b="1">
                          <a:solidFill>
                            <a:srgbClr val="172A32"/>
                          </a:solidFill>
                          <a:latin typeface="Helvetica Neue"/>
                          <a:ea typeface="Helvetica Neue"/>
                          <a:cs typeface="Helvetica Neue"/>
                        </a:rPr>
                        <a:t>Chat state</a:t>
                      </a:r>
                    </a:p>
                  </a:txBody>
                  <a:tcPr marL="85725" marR="85725" marT="57150" marB="57150" anchor="ctr">
                    <a:solidFill>
                      <a:srgbClr val="FFFFFF"/>
                    </a:solidFill>
                  </a:tcPr>
                </a:tc>
                <a:tc>
                  <a:txBody>
                    <a:bodyPr/>
                    <a:lstStyle/>
                    <a:p>
                      <a:r>
                        <a:rPr sz="975">
                          <a:solidFill>
                            <a:srgbClr val="172A32"/>
                          </a:solidFill>
                          <a:latin typeface="Helvetica Neue"/>
                          <a:ea typeface="Helvetica Neue"/>
                          <a:cs typeface="Helvetica Neue"/>
                        </a:rPr>
                        <a:t>Shared service + RWMutex</a:t>
                      </a:r>
                    </a:p>
                  </a:txBody>
                  <a:tcPr marL="85725" marR="85725" marT="57150" marB="57150" anchor="ctr">
                    <a:solidFill>
                      <a:srgbClr val="FFFFFF"/>
                    </a:solidFill>
                  </a:tcPr>
                </a:tc>
                <a:tc>
                  <a:txBody>
                    <a:bodyPr/>
                    <a:lstStyle/>
                    <a:p>
                      <a:r>
                        <a:rPr sz="975">
                          <a:solidFill>
                            <a:srgbClr val="172A32"/>
                          </a:solidFill>
                          <a:latin typeface="Helvetica Neue"/>
                          <a:ea typeface="Helvetica Neue"/>
                          <a:cs typeface="Helvetica Neue"/>
                        </a:rPr>
                        <a:t>Worker owns mutable state</a:t>
                      </a:r>
                    </a:p>
                  </a:txBody>
                  <a:tcPr marL="85725" marR="85725" marT="57150" marB="57150" anchor="ctr">
                    <a:solidFill>
                      <a:srgbClr val="FFFFFF"/>
                    </a:solidFill>
                  </a:tcPr>
                </a:tc>
                <a:tc>
                  <a:txBody>
                    <a:bodyPr/>
                    <a:lstStyle/>
                    <a:p>
                      <a:r>
                        <a:rPr sz="975">
                          <a:solidFill>
                            <a:srgbClr val="172A32"/>
                          </a:solidFill>
                          <a:latin typeface="Helvetica Neue"/>
                          <a:ea typeface="Helvetica Neue"/>
                          <a:cs typeface="Helvetica Neue"/>
                        </a:rPr>
                        <a:t>Go uses locks; Rust centralizes ownership.</a:t>
                      </a:r>
                    </a:p>
                  </a:txBody>
                  <a:tcPr marL="85725" marR="85725" marT="57150" marB="57150" anchor="ctr">
                    <a:solidFill>
                      <a:srgbClr val="FFFFFF"/>
                    </a:solidFill>
                  </a:tcPr>
                </a:tc>
              </a:tr>
              <a:tr h="722313">
                <a:tc>
                  <a:txBody>
                    <a:bodyPr/>
                    <a:lstStyle/>
                    <a:p>
                      <a:r>
                        <a:rPr sz="975" b="1">
                          <a:solidFill>
                            <a:srgbClr val="172A32"/>
                          </a:solidFill>
                          <a:latin typeface="Helvetica Neue"/>
                          <a:ea typeface="Helvetica Neue"/>
                          <a:cs typeface="Helvetica Neue"/>
                        </a:rPr>
                        <a:t>Errors</a:t>
                      </a:r>
                    </a:p>
                  </a:txBody>
                  <a:tcPr marL="85725" marR="85725" marT="57150" marB="57150" anchor="ctr">
                    <a:solidFill>
                      <a:srgbClr val="F4F8F6"/>
                    </a:solidFill>
                  </a:tcPr>
                </a:tc>
                <a:tc>
                  <a:txBody>
                    <a:bodyPr/>
                    <a:lstStyle/>
                    <a:p>
                      <a:r>
                        <a:rPr sz="975">
                          <a:solidFill>
                            <a:srgbClr val="172A32"/>
                          </a:solidFill>
                          <a:latin typeface="Helvetica Neue"/>
                          <a:ea typeface="Helvetica Neue"/>
                          <a:cs typeface="Helvetica Neue"/>
                        </a:rPr>
                        <a:t>error values</a:t>
                      </a:r>
                    </a:p>
                  </a:txBody>
                  <a:tcPr marL="85725" marR="85725" marT="57150" marB="57150" anchor="ctr">
                    <a:solidFill>
                      <a:srgbClr val="F4F8F6"/>
                    </a:solidFill>
                  </a:tcPr>
                </a:tc>
                <a:tc>
                  <a:txBody>
                    <a:bodyPr/>
                    <a:lstStyle/>
                    <a:p>
                      <a:r>
                        <a:rPr sz="975">
                          <a:solidFill>
                            <a:srgbClr val="172A32"/>
                          </a:solidFill>
                          <a:latin typeface="Helvetica Neue"/>
                          <a:ea typeface="Helvetica Neue"/>
                          <a:cs typeface="Helvetica Neue"/>
                        </a:rPr>
                        <a:t>Result + ChatError enum</a:t>
                      </a:r>
                    </a:p>
                  </a:txBody>
                  <a:tcPr marL="85725" marR="85725" marT="57150" marB="57150" anchor="ctr">
                    <a:solidFill>
                      <a:srgbClr val="F4F8F6"/>
                    </a:solidFill>
                  </a:tcPr>
                </a:tc>
                <a:tc>
                  <a:txBody>
                    <a:bodyPr/>
                    <a:lstStyle/>
                    <a:p>
                      <a:r>
                        <a:rPr sz="975">
                          <a:solidFill>
                            <a:srgbClr val="172A32"/>
                          </a:solidFill>
                          <a:latin typeface="Helvetica Neue"/>
                          <a:ea typeface="Helvetica Neue"/>
                          <a:cs typeface="Helvetica Neue"/>
                        </a:rPr>
                        <a:t>Both return clear validation failures.</a:t>
                      </a:r>
                    </a:p>
                  </a:txBody>
                  <a:tcPr marL="85725" marR="85725" marT="57150" marB="57150" anchor="ctr">
                    <a:solidFill>
                      <a:srgbClr val="F4F8F6"/>
                    </a:solidFill>
                  </a:tcPr>
                </a:tc>
              </a:tr>
              <a:tr h="722313">
                <a:tc>
                  <a:txBody>
                    <a:bodyPr/>
                    <a:lstStyle/>
                    <a:p>
                      <a:r>
                        <a:rPr sz="975" b="1">
                          <a:solidFill>
                            <a:srgbClr val="172A32"/>
                          </a:solidFill>
                          <a:latin typeface="Helvetica Neue"/>
                          <a:ea typeface="Helvetica Neue"/>
                          <a:cs typeface="Helvetica Neue"/>
                        </a:rPr>
                        <a:t>Memory</a:t>
                      </a:r>
                    </a:p>
                  </a:txBody>
                  <a:tcPr marL="85725" marR="85725" marT="57150" marB="57150" anchor="ctr">
                    <a:solidFill>
                      <a:srgbClr val="FFFFFF"/>
                    </a:solidFill>
                  </a:tcPr>
                </a:tc>
                <a:tc>
                  <a:txBody>
                    <a:bodyPr/>
                    <a:lstStyle/>
                    <a:p>
                      <a:r>
                        <a:rPr sz="975">
                          <a:solidFill>
                            <a:srgbClr val="172A32"/>
                          </a:solidFill>
                          <a:latin typeface="Helvetica Neue"/>
                          <a:ea typeface="Helvetica Neue"/>
                          <a:cs typeface="Helvetica Neue"/>
                        </a:rPr>
                        <a:t>Garbage collection</a:t>
                      </a:r>
                    </a:p>
                  </a:txBody>
                  <a:tcPr marL="85725" marR="85725" marT="57150" marB="57150" anchor="ctr">
                    <a:solidFill>
                      <a:srgbClr val="FFFFFF"/>
                    </a:solidFill>
                  </a:tcPr>
                </a:tc>
                <a:tc>
                  <a:txBody>
                    <a:bodyPr/>
                    <a:lstStyle/>
                    <a:p>
                      <a:r>
                        <a:rPr sz="975">
                          <a:solidFill>
                            <a:srgbClr val="172A32"/>
                          </a:solidFill>
                          <a:latin typeface="Helvetica Neue"/>
                          <a:ea typeface="Helvetica Neue"/>
                          <a:cs typeface="Helvetica Neue"/>
                        </a:rPr>
                        <a:t>Ownership and borrowing</a:t>
                      </a:r>
                    </a:p>
                  </a:txBody>
                  <a:tcPr marL="85725" marR="85725" marT="57150" marB="57150" anchor="ctr">
                    <a:solidFill>
                      <a:srgbClr val="FFFFFF"/>
                    </a:solidFill>
                  </a:tcPr>
                </a:tc>
                <a:tc>
                  <a:txBody>
                    <a:bodyPr/>
                    <a:lstStyle/>
                    <a:p>
                      <a:r>
                        <a:rPr sz="975">
                          <a:solidFill>
                            <a:srgbClr val="172A32"/>
                          </a:solidFill>
                          <a:latin typeface="Helvetica Neue"/>
                          <a:ea typeface="Helvetica Neue"/>
                          <a:cs typeface="Helvetica Neue"/>
                        </a:rPr>
                        <a:t>Memory is managed at runtime in Go and checked at compile time in Rust.</a:t>
                      </a:r>
                    </a:p>
                  </a:txBody>
                  <a:tcPr marL="85725" marR="85725" marT="57150" marB="57150" anchor="ctr">
                    <a:solidFill>
                      <a:srgbClr val="FFFFFF"/>
                    </a:solidFill>
                  </a:tcPr>
                </a:tc>
              </a:tr>
              <a:tr h="722313">
                <a:tc>
                  <a:txBody>
                    <a:bodyPr/>
                    <a:lstStyle/>
                    <a:p>
                      <a:r>
                        <a:rPr sz="975" b="1">
                          <a:solidFill>
                            <a:srgbClr val="172A32"/>
                          </a:solidFill>
                          <a:latin typeface="Helvetica Neue"/>
                          <a:ea typeface="Helvetica Neue"/>
                          <a:cs typeface="Helvetica Neue"/>
                        </a:rPr>
                        <a:t>Integration</a:t>
                      </a:r>
                    </a:p>
                  </a:txBody>
                  <a:tcPr marL="85725" marR="85725" marT="57150" marB="57150" anchor="ctr">
                    <a:solidFill>
                      <a:srgbClr val="F4F8F6"/>
                    </a:solidFill>
                  </a:tcPr>
                </a:tc>
                <a:tc>
                  <a:txBody>
                    <a:bodyPr/>
                    <a:lstStyle/>
                    <a:p>
                      <a:r>
                        <a:rPr sz="975">
                          <a:solidFill>
                            <a:srgbClr val="172A32"/>
                          </a:solidFill>
                          <a:latin typeface="Helvetica Neue"/>
                          <a:ea typeface="Helvetica Neue"/>
                          <a:cs typeface="Helvetica Neue"/>
                        </a:rPr>
                        <a:t>Same API and frontend</a:t>
                      </a:r>
                    </a:p>
                  </a:txBody>
                  <a:tcPr marL="85725" marR="85725" marT="57150" marB="57150" anchor="ctr">
                    <a:solidFill>
                      <a:srgbClr val="F4F8F6"/>
                    </a:solidFill>
                  </a:tcPr>
                </a:tc>
                <a:tc>
                  <a:txBody>
                    <a:bodyPr/>
                    <a:lstStyle/>
                    <a:p>
                      <a:r>
                        <a:rPr sz="975">
                          <a:solidFill>
                            <a:srgbClr val="172A32"/>
                          </a:solidFill>
                          <a:latin typeface="Helvetica Neue"/>
                          <a:ea typeface="Helvetica Neue"/>
                          <a:cs typeface="Helvetica Neue"/>
                        </a:rPr>
                        <a:t>Same API and frontend</a:t>
                      </a:r>
                    </a:p>
                  </a:txBody>
                  <a:tcPr marL="85725" marR="85725" marT="57150" marB="57150" anchor="ctr">
                    <a:solidFill>
                      <a:srgbClr val="F4F8F6"/>
                    </a:solidFill>
                  </a:tcPr>
                </a:tc>
                <a:tc>
                  <a:txBody>
                    <a:bodyPr/>
                    <a:lstStyle/>
                    <a:p>
                      <a:r>
                        <a:rPr sz="975">
                          <a:solidFill>
                            <a:srgbClr val="172A32"/>
                          </a:solidFill>
                          <a:latin typeface="Helvetica Neue"/>
                          <a:ea typeface="Helvetica Neue"/>
                          <a:cs typeface="Helvetica Neue"/>
                        </a:rPr>
                        <a:t>The browser works unchanged with either backend.</a:t>
                      </a:r>
                    </a:p>
                  </a:txBody>
                  <a:tcPr marL="85725" marR="85725" marT="57150" marB="57150" anchor="ctr">
                    <a:solidFill>
                      <a:srgbClr val="F4F8F6"/>
                    </a:solidFill>
                  </a:tcPr>
                </a:tc>
              </a:tr>
            </a:tbl>
          </a:graphicData>
        </a:graphic>
      </p:graphicFrame>
      <p:sp>
        <p:nvSpPr>
          <p:cNvPr id="5" name="">
            <a:extLst xmlns:a="http://schemas.openxmlformats.org/drawingml/2006/main">
              <a:ext uri="{FF2B5EF4-FFF2-40B4-BE49-F238E27FC236}">
                <a16:creationId xmlns:a16="http://schemas.microsoft.com/office/drawing/2014/main" id="{1895E56A-F2EB-4E30-9DFB-C390D3B42F07}"/>
              </a:ext>
            </a:extLst>
          </p:cNvPr>
          <p:cNvSpPr>
            <a:spLocks xmlns:a="http://schemas.openxmlformats.org/drawingml/2006/main" noGrp="1"/>
          </p:cNvSpPr>
          <p:nvPr/>
        </p:nvSpPr>
        <p:spPr>
          <a:xfrm xmlns:a="http://schemas.openxmlformats.org/drawingml/2006/main">
            <a:off x="66675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MSCS 632  |  Simple Chat Application</a:t>
            </a:r>
          </a:p>
        </p:txBody>
      </p:sp>
      <p:sp>
        <p:nvSpPr>
          <p:cNvPr id="6" name="">
            <a:extLst xmlns:a="http://schemas.openxmlformats.org/drawingml/2006/main">
              <a:ext uri="{FF2B5EF4-FFF2-40B4-BE49-F238E27FC236}">
                <a16:creationId xmlns:a16="http://schemas.microsoft.com/office/drawing/2014/main" id="{171A1C9B-E01E-41BA-ABC6-7104F2C90F58}"/>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r">
              <a:defRPr sz="825" b="0">
                <a:solidFill>
                  <a:srgbClr val="52666E"/>
                </a:solidFill>
                <a:latin typeface="Helvetica Neue"/>
                <a:ea typeface="Helvetica Neue"/>
                <a:cs typeface="Helvetica Neue"/>
              </a:defRPr>
            </a:pPr>
            <a:r>
              <a:rPr sz="825" b="0">
                <a:solidFill>
                  <a:srgbClr val="52666E"/>
                </a:solidFill>
                <a:latin typeface="Helvetica Neue"/>
                <a:ea typeface="Helvetica Neue"/>
                <a:cs typeface="Helvetica Neue"/>
              </a:rPr>
              <a:t>17</a:t>
            </a:r>
          </a:p>
        </p:txBody>
      </p:sp>
    </p:spTree>
    <p:extLst>
      <p:ext uri="{BB962C8B-B14F-4D97-AF65-F5344CB8AC3E}">
        <p14:creationId xmlns:p14="http://schemas.microsoft.com/office/powerpoint/2010/main" val="1967802767"/>
      </p:ext>
    </p:extLst>
  </p:cSld>
</p:sld>
</file>

<file path=ppt/slides/slide18.xml><?xml version="1.0" encoding="utf-8"?>
<p:sld xmlns:p="http://schemas.openxmlformats.org/presentationml/2006/main">
  <p:cSld>
    <p:bg>
      <p:bgPr>
        <a:solidFill xmlns:a="http://schemas.openxmlformats.org/drawingml/2006/main">
          <a:srgbClr val="1023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3EB38B-EE4B-408E-801E-094F85B389E8}"/>
              </a:ext>
            </a:extLst>
          </p:cNvPr>
          <p:cNvSpPr>
            <a:spLocks xmlns:a="http://schemas.openxmlformats.org/drawingml/2006/main" noGrp="1"/>
          </p:cNvSpPr>
          <p:nvPr/>
        </p:nvSpPr>
        <p:spPr>
          <a:xfrm xmlns:a="http://schemas.openxmlformats.org/drawingml/2006/main">
            <a:off x="762000" y="7620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8FD0BB"/>
                </a:solidFill>
                <a:latin typeface="Helvetica Neue"/>
                <a:ea typeface="Helvetica Neue"/>
                <a:cs typeface="Helvetica Neue"/>
              </a:defRPr>
            </a:pPr>
            <a:r>
              <a:rPr sz="975" b="1">
                <a:solidFill>
                  <a:srgbClr val="8FD0BB"/>
                </a:solidFill>
                <a:latin typeface="Helvetica Neue"/>
                <a:ea typeface="Helvetica Neue"/>
                <a:cs typeface="Helvetica Neue"/>
              </a:rPr>
              <a:t>CONCLUSION</a:t>
            </a:r>
          </a:p>
        </p:txBody>
      </p:sp>
      <p:sp>
        <p:nvSpPr>
          <p:cNvPr id="2" name="">
            <a:extLst xmlns:a="http://schemas.openxmlformats.org/drawingml/2006/main">
              <a:ext uri="{FF2B5EF4-FFF2-40B4-BE49-F238E27FC236}">
                <a16:creationId xmlns:a16="http://schemas.microsoft.com/office/drawing/2014/main" id="{76CF76AD-3E35-41A2-9BB6-FFD710CBC2C0}"/>
              </a:ext>
            </a:extLst>
          </p:cNvPr>
          <p:cNvSpPr>
            <a:spLocks xmlns:a="http://schemas.openxmlformats.org/drawingml/2006/main" noGrp="1"/>
          </p:cNvSpPr>
          <p:nvPr/>
        </p:nvSpPr>
        <p:spPr>
          <a:xfrm xmlns:a="http://schemas.openxmlformats.org/drawingml/2006/main">
            <a:off x="762000" y="1238250"/>
            <a:ext cx="1000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One application. Two valid concurrency models.</a:t>
            </a:r>
          </a:p>
        </p:txBody>
      </p:sp>
      <p:sp>
        <p:nvSpPr>
          <p:cNvPr id="3" name="">
            <a:extLst xmlns:a="http://schemas.openxmlformats.org/drawingml/2006/main">
              <a:ext uri="{FF2B5EF4-FFF2-40B4-BE49-F238E27FC236}">
                <a16:creationId xmlns:a16="http://schemas.microsoft.com/office/drawing/2014/main" id="{96D2C7A0-21FB-40C8-BB2F-4506ED62DA18}"/>
              </a:ext>
            </a:extLst>
          </p:cNvPr>
          <p:cNvSpPr>
            <a:spLocks xmlns:a="http://schemas.openxmlformats.org/drawingml/2006/main" noGrp="1"/>
          </p:cNvSpPr>
          <p:nvPr/>
        </p:nvSpPr>
        <p:spPr>
          <a:xfrm xmlns:a="http://schemas.openxmlformats.org/drawingml/2006/main">
            <a:off x="762000" y="2333625"/>
            <a:ext cx="10001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0">
                <a:solidFill>
                  <a:srgbClr val="E4F1ED"/>
                </a:solidFill>
                <a:latin typeface="Helvetica Neue"/>
                <a:ea typeface="Helvetica Neue"/>
                <a:cs typeface="Helvetica Neue"/>
              </a:defRPr>
            </a:pPr>
            <a:r>
              <a:rPr sz="2025" b="0">
                <a:solidFill>
                  <a:srgbClr val="E4F1ED"/>
                </a:solidFill>
                <a:latin typeface="Helvetica Neue"/>
                <a:ea typeface="Helvetica Neue"/>
                <a:cs typeface="Helvetica Neue"/>
              </a:rPr>
              <a:t>Rust emphasizes compile-time guarantees, explicit ownership, and typed failure paths.</a:t>
            </a:r>
          </a:p>
          <a:p xmlns:a="http://schemas.openxmlformats.org/drawingml/2006/main">
            <a:r>
              <a:t/>
            </a:r>
          </a:p>
          <a:p xmlns:a="http://schemas.openxmlformats.org/drawingml/2006/main">
            <a:pPr algn="l">
              <a:defRPr sz="2025" b="0">
                <a:solidFill>
                  <a:srgbClr val="E4F1ED"/>
                </a:solidFill>
                <a:latin typeface="Helvetica Neue"/>
                <a:ea typeface="Helvetica Neue"/>
                <a:cs typeface="Helvetica Neue"/>
              </a:defRPr>
            </a:pPr>
            <a:r>
              <a:rPr sz="2025" b="0">
                <a:solidFill>
                  <a:srgbClr val="E4F1ED"/>
                </a:solidFill>
                <a:latin typeface="Helvetica Neue"/>
                <a:ea typeface="Helvetica Neue"/>
                <a:cs typeface="Helvetica Neue"/>
              </a:rPr>
              <a:t>Go emphasizes concise code, goroutines, channels, and synchronized shared state.</a:t>
            </a:r>
          </a:p>
        </p:txBody>
      </p:sp>
      <p:sp>
        <p:nvSpPr>
          <p:cNvPr id="4" name="">
            <a:extLst xmlns:a="http://schemas.openxmlformats.org/drawingml/2006/main">
              <a:ext uri="{FF2B5EF4-FFF2-40B4-BE49-F238E27FC236}">
                <a16:creationId xmlns:a16="http://schemas.microsoft.com/office/drawing/2014/main" id="{9DE7B13E-563B-432C-8FD0-E082FEFF7255}"/>
              </a:ext>
            </a:extLst>
          </p:cNvPr>
          <p:cNvSpPr>
            <a:spLocks xmlns:a="http://schemas.openxmlformats.org/drawingml/2006/main" noGrp="1"/>
          </p:cNvSpPr>
          <p:nvPr/>
        </p:nvSpPr>
        <p:spPr>
          <a:xfrm xmlns:a="http://schemas.openxmlformats.org/drawingml/2006/main">
            <a:off x="762000" y="4762500"/>
            <a:ext cx="933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474"/>
          </a:bodyPr>
          <a:lstStyle xmlns:a="http://schemas.openxmlformats.org/drawingml/2006/main"/>
          <a:p xmlns:a="http://schemas.openxmlformats.org/drawingml/2006/main">
            <a:pPr algn="l">
              <a:defRPr sz="1875" b="1">
                <a:solidFill>
                  <a:srgbClr val="8FD0BB"/>
                </a:solidFill>
                <a:latin typeface="Helvetica Neue"/>
                <a:ea typeface="Helvetica Neue"/>
                <a:cs typeface="Helvetica Neue"/>
              </a:defRPr>
            </a:pPr>
            <a:r>
              <a:rPr sz="1875" b="1">
                <a:solidFill>
                  <a:srgbClr val="8FD0BB"/>
                </a:solidFill>
                <a:latin typeface="Helvetica Neue"/>
                <a:ea typeface="Helvetica Neue"/>
                <a:cs typeface="Helvetica Neue"/>
              </a:rPr>
              <a:t>Both implementations satisfy the same functional requirements through one shared interface.</a:t>
            </a:r>
          </a:p>
        </p:txBody>
      </p:sp>
      <p:sp>
        <p:nvSpPr>
          <p:cNvPr id="5" name="">
            <a:extLst xmlns:a="http://schemas.openxmlformats.org/drawingml/2006/main">
              <a:ext uri="{FF2B5EF4-FFF2-40B4-BE49-F238E27FC236}">
                <a16:creationId xmlns:a16="http://schemas.microsoft.com/office/drawing/2014/main" id="{EE162958-EF97-4AE9-B02D-61AD13494B19}"/>
              </a:ext>
            </a:extLst>
          </p:cNvPr>
          <p:cNvSpPr>
            <a:spLocks xmlns:a="http://schemas.openxmlformats.org/drawingml/2006/main" noGrp="1"/>
          </p:cNvSpPr>
          <p:nvPr/>
        </p:nvSpPr>
        <p:spPr>
          <a:xfrm xmlns:a="http://schemas.openxmlformats.org/drawingml/2006/main">
            <a:off x="762000" y="59055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0">
                <a:solidFill>
                  <a:srgbClr val="BDD5CD"/>
                </a:solidFill>
                <a:latin typeface="Helvetica Neue"/>
                <a:ea typeface="Helvetica Neue"/>
                <a:cs typeface="Helvetica Neue"/>
              </a:defRPr>
            </a:pPr>
            <a:r>
              <a:rPr sz="1125" b="0">
                <a:solidFill>
                  <a:srgbClr val="BDD5CD"/>
                </a:solidFill>
                <a:latin typeface="Helvetica Neue"/>
                <a:ea typeface="Helvetica Neue"/>
                <a:cs typeface="Helvetica Neue"/>
              </a:rPr>
              <a:t>github.com/tiwariarjun91/MSCS-632-Group-Project-Simple-Chat-Application</a:t>
            </a:r>
          </a:p>
        </p:txBody>
      </p:sp>
      <p:sp>
        <p:nvSpPr>
          <p:cNvPr id="6" name="">
            <a:extLst xmlns:a="http://schemas.openxmlformats.org/drawingml/2006/main">
              <a:ext uri="{FF2B5EF4-FFF2-40B4-BE49-F238E27FC236}">
                <a16:creationId xmlns:a16="http://schemas.microsoft.com/office/drawing/2014/main" id="{0974E5F8-9E2E-40CB-B8B6-61736497E8D0}"/>
              </a:ext>
            </a:extLst>
          </p:cNvPr>
          <p:cNvSpPr>
            <a:spLocks xmlns:a="http://schemas.openxmlformats.org/drawingml/2006/main" noGrp="1"/>
          </p:cNvSpPr>
          <p:nvPr/>
        </p:nvSpPr>
        <p:spPr>
          <a:xfrm xmlns:a="http://schemas.openxmlformats.org/drawingml/2006/main">
            <a:off x="9810750" y="5857875"/>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Questions</a:t>
            </a:r>
          </a:p>
        </p:txBody>
      </p:sp>
    </p:spTree>
    <p:extLst>
      <p:ext uri="{BB962C8B-B14F-4D97-AF65-F5344CB8AC3E}">
        <p14:creationId xmlns:p14="http://schemas.microsoft.com/office/powerpoint/2010/main" val="15913615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2026-10-04T16:03:23.9330000Z</dcterms:created>
  <dcterms:modified xsi:type="dcterms:W3CDTF">2026-10-04T16:03:23.9330000Z</dcterms:modified>
</coreProperties>
</file>